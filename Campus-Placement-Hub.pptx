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48646" y="10460414"/>
            <a:ext cx="963321" cy="35601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3016" y="4492009"/>
            <a:ext cx="408364" cy="39789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55453" y="2492070"/>
            <a:ext cx="4041761" cy="80625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55453" y="1444982"/>
            <a:ext cx="10879249" cy="8271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20104100" cy="6282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2856153" y="9675272"/>
            <a:ext cx="273685" cy="0"/>
          </a:xfrm>
          <a:custGeom>
            <a:avLst/>
            <a:gdLst/>
            <a:ahLst/>
            <a:cxnLst/>
            <a:rect l="l" t="t" r="r" b="b"/>
            <a:pathLst>
              <a:path w="273684" h="0">
                <a:moveTo>
                  <a:pt x="0" y="0"/>
                </a:moveTo>
                <a:lnTo>
                  <a:pt x="273639" y="0"/>
                </a:lnTo>
              </a:path>
            </a:pathLst>
          </a:custGeom>
          <a:ln w="21988">
            <a:solidFill>
              <a:srgbClr val="6074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4177923" y="5245739"/>
            <a:ext cx="273685" cy="0"/>
          </a:xfrm>
          <a:custGeom>
            <a:avLst/>
            <a:gdLst/>
            <a:ahLst/>
            <a:cxnLst/>
            <a:rect l="l" t="t" r="r" b="b"/>
            <a:pathLst>
              <a:path w="273684" h="0">
                <a:moveTo>
                  <a:pt x="0" y="0"/>
                </a:moveTo>
                <a:lnTo>
                  <a:pt x="273639" y="0"/>
                </a:lnTo>
              </a:path>
            </a:pathLst>
          </a:custGeom>
          <a:ln w="21988">
            <a:solidFill>
              <a:srgbClr val="6074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0" y="8271999"/>
            <a:ext cx="20093629" cy="60731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0" y="6324414"/>
            <a:ext cx="20093629" cy="36648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70" y="5738045"/>
            <a:ext cx="20093629" cy="36648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70" y="3287857"/>
            <a:ext cx="20093629" cy="109944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70" y="2136060"/>
            <a:ext cx="20093629" cy="41883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0470" y="6921255"/>
            <a:ext cx="20083780" cy="356235"/>
          </a:xfrm>
          <a:custGeom>
            <a:avLst/>
            <a:gdLst/>
            <a:ahLst/>
            <a:cxnLst/>
            <a:rect l="l" t="t" r="r" b="b"/>
            <a:pathLst>
              <a:path w="20083780" h="356234">
                <a:moveTo>
                  <a:pt x="20083153" y="356010"/>
                </a:moveTo>
                <a:lnTo>
                  <a:pt x="0" y="356010"/>
                </a:lnTo>
                <a:lnTo>
                  <a:pt x="0" y="0"/>
                </a:lnTo>
                <a:lnTo>
                  <a:pt x="20083153" y="0"/>
                </a:lnTo>
                <a:lnTo>
                  <a:pt x="20083153" y="356010"/>
                </a:lnTo>
                <a:close/>
              </a:path>
            </a:pathLst>
          </a:custGeom>
          <a:solidFill>
            <a:srgbClr val="0A16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58513" y="1072200"/>
            <a:ext cx="9072245" cy="11741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jpg"/><Relationship Id="rId8" Type="http://schemas.openxmlformats.org/officeDocument/2006/relationships/image" Target="../media/image17.png"/><Relationship Id="rId9" Type="http://schemas.openxmlformats.org/officeDocument/2006/relationships/image" Target="../media/image18.jpg"/><Relationship Id="rId10" Type="http://schemas.openxmlformats.org/officeDocument/2006/relationships/image" Target="../media/image19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0" y="10146287"/>
            <a:ext cx="20093629" cy="33506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0" y="7643746"/>
            <a:ext cx="20093629" cy="37695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70" y="7057376"/>
            <a:ext cx="20093629" cy="40836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70" y="6502420"/>
            <a:ext cx="20093629" cy="40836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70" y="3821873"/>
            <a:ext cx="20093629" cy="1277448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10470" y="921437"/>
            <a:ext cx="20093940" cy="377190"/>
            <a:chOff x="10470" y="921437"/>
            <a:chExt cx="20093940" cy="377190"/>
          </a:xfrm>
        </p:grpSpPr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70" y="921437"/>
              <a:ext cx="20093629" cy="376951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177944" y="931908"/>
              <a:ext cx="2482215" cy="356235"/>
            </a:xfrm>
            <a:custGeom>
              <a:avLst/>
              <a:gdLst/>
              <a:ahLst/>
              <a:cxnLst/>
              <a:rect l="l" t="t" r="r" b="b"/>
              <a:pathLst>
                <a:path w="2482215" h="356234">
                  <a:moveTo>
                    <a:pt x="2481599" y="356010"/>
                  </a:moveTo>
                  <a:lnTo>
                    <a:pt x="0" y="356010"/>
                  </a:lnTo>
                  <a:lnTo>
                    <a:pt x="0" y="0"/>
                  </a:lnTo>
                  <a:lnTo>
                    <a:pt x="2481599" y="0"/>
                  </a:lnTo>
                  <a:lnTo>
                    <a:pt x="2481599" y="356010"/>
                  </a:lnTo>
                  <a:close/>
                </a:path>
              </a:pathLst>
            </a:custGeom>
            <a:solidFill>
              <a:srgbClr val="0A162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156192" y="799521"/>
            <a:ext cx="2467610" cy="495934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050" spc="-70"/>
              <a:t>CampusPlacer</a:t>
            </a:r>
            <a:endParaRPr sz="3050"/>
          </a:p>
        </p:txBody>
      </p:sp>
      <p:sp>
        <p:nvSpPr>
          <p:cNvPr id="11" name="object 11" descr=""/>
          <p:cNvSpPr/>
          <p:nvPr/>
        </p:nvSpPr>
        <p:spPr>
          <a:xfrm>
            <a:off x="10470" y="9675097"/>
            <a:ext cx="20083780" cy="283210"/>
          </a:xfrm>
          <a:custGeom>
            <a:avLst/>
            <a:gdLst/>
            <a:ahLst/>
            <a:cxnLst/>
            <a:rect l="l" t="t" r="r" b="b"/>
            <a:pathLst>
              <a:path w="20083780" h="283209">
                <a:moveTo>
                  <a:pt x="20083153" y="282713"/>
                </a:moveTo>
                <a:lnTo>
                  <a:pt x="0" y="282713"/>
                </a:lnTo>
                <a:lnTo>
                  <a:pt x="0" y="0"/>
                </a:lnTo>
                <a:lnTo>
                  <a:pt x="20083153" y="0"/>
                </a:lnTo>
                <a:lnTo>
                  <a:pt x="20083153" y="282713"/>
                </a:lnTo>
                <a:close/>
              </a:path>
            </a:pathLst>
          </a:custGeom>
          <a:solidFill>
            <a:srgbClr val="0A16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404779" y="9591864"/>
            <a:ext cx="1530985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-10">
                <a:solidFill>
                  <a:srgbClr val="8E8E8E"/>
                </a:solidFill>
                <a:latin typeface="Arial MT"/>
                <a:cs typeface="Arial MT"/>
              </a:rPr>
              <a:t>Technology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724219" y="9591864"/>
            <a:ext cx="142494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4535" algn="l"/>
              </a:tabLst>
            </a:pPr>
            <a:r>
              <a:rPr dirty="0" sz="2200" spc="-150">
                <a:solidFill>
                  <a:srgbClr val="506D90"/>
                </a:solidFill>
                <a:latin typeface="Arial MT"/>
                <a:cs typeface="Arial MT"/>
              </a:rPr>
              <a:t>U</a:t>
            </a:r>
            <a:r>
              <a:rPr dirty="0" sz="2200" spc="-385">
                <a:solidFill>
                  <a:srgbClr val="506D90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0E2348"/>
                </a:solidFill>
                <a:latin typeface="Arial MT"/>
                <a:cs typeface="Arial MT"/>
              </a:rPr>
              <a:t>se</a:t>
            </a:r>
            <a:r>
              <a:rPr dirty="0" sz="2200">
                <a:solidFill>
                  <a:srgbClr val="0E2348"/>
                </a:solidFill>
                <a:latin typeface="Arial MT"/>
                <a:cs typeface="Arial MT"/>
              </a:rPr>
              <a:t>	</a:t>
            </a:r>
            <a:r>
              <a:rPr dirty="0" sz="2200" spc="-40">
                <a:solidFill>
                  <a:srgbClr val="385687"/>
                </a:solidFill>
                <a:latin typeface="Arial MT"/>
                <a:cs typeface="Arial MT"/>
              </a:rPr>
              <a:t>Roles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639229" y="9591864"/>
            <a:ext cx="84328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-10">
                <a:solidFill>
                  <a:srgbClr val="233D64"/>
                </a:solidFill>
                <a:latin typeface="Arial MT"/>
                <a:cs typeface="Arial MT"/>
              </a:rPr>
              <a:t>Status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37984" y="10146287"/>
            <a:ext cx="4303533" cy="261772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10470" y="10544181"/>
            <a:ext cx="20093940" cy="188595"/>
            <a:chOff x="10470" y="10544181"/>
            <a:chExt cx="20093940" cy="188595"/>
          </a:xfrm>
        </p:grpSpPr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104160" y="10554652"/>
              <a:ext cx="1329802" cy="16753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70" y="10544181"/>
              <a:ext cx="20093629" cy="1884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5453" y="2596779"/>
            <a:ext cx="8879310" cy="87955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4982" y="1465923"/>
            <a:ext cx="8565184" cy="858612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5956582" y="6995075"/>
            <a:ext cx="283845" cy="0"/>
          </a:xfrm>
          <a:custGeom>
            <a:avLst/>
            <a:gdLst/>
            <a:ahLst/>
            <a:cxnLst/>
            <a:rect l="l" t="t" r="r" b="b"/>
            <a:pathLst>
              <a:path w="283844" h="0">
                <a:moveTo>
                  <a:pt x="0" y="0"/>
                </a:moveTo>
                <a:lnTo>
                  <a:pt x="283411" y="0"/>
                </a:lnTo>
              </a:path>
            </a:pathLst>
          </a:custGeom>
          <a:ln w="21988">
            <a:solidFill>
              <a:srgbClr val="6074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409251" y="639403"/>
            <a:ext cx="2595880" cy="367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44220" algn="l"/>
                <a:tab pos="1781175" algn="l"/>
              </a:tabLst>
            </a:pPr>
            <a:r>
              <a:rPr dirty="0" sz="2250" spc="-30">
                <a:solidFill>
                  <a:srgbClr val="3B82F6"/>
                </a:solidFill>
                <a:latin typeface="Calibri"/>
                <a:cs typeface="Calibri"/>
              </a:rPr>
              <a:t>T</a:t>
            </a:r>
            <a:r>
              <a:rPr dirty="0" sz="2250" spc="-114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3B82F6"/>
                </a:solidFill>
                <a:latin typeface="Calibri"/>
                <a:cs typeface="Calibri"/>
              </a:rPr>
              <a:t>H</a:t>
            </a:r>
            <a:r>
              <a:rPr dirty="0" sz="2250" spc="-100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dirty="0" sz="2250" spc="-50">
                <a:solidFill>
                  <a:srgbClr val="3B82F6"/>
                </a:solidFill>
                <a:latin typeface="Calibri"/>
                <a:cs typeface="Calibri"/>
              </a:rPr>
              <a:t>E</a:t>
            </a:r>
            <a:r>
              <a:rPr dirty="0" sz="2250">
                <a:solidFill>
                  <a:srgbClr val="3B82F6"/>
                </a:solidFill>
                <a:latin typeface="Calibri"/>
                <a:cs typeface="Calibri"/>
              </a:rPr>
              <a:t>	C</a:t>
            </a:r>
            <a:r>
              <a:rPr dirty="0" sz="2250" spc="5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3B82F6"/>
                </a:solidFill>
                <a:latin typeface="Calibri"/>
                <a:cs typeface="Calibri"/>
              </a:rPr>
              <a:t>H</a:t>
            </a:r>
            <a:r>
              <a:rPr dirty="0" sz="2250" spc="-155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3B82F6"/>
                </a:solidFill>
                <a:latin typeface="Calibri"/>
                <a:cs typeface="Calibri"/>
              </a:rPr>
              <a:t>A</a:t>
            </a:r>
            <a:r>
              <a:rPr dirty="0" sz="2250" spc="-45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dirty="0" sz="2250" spc="-25">
                <a:solidFill>
                  <a:srgbClr val="3B82F6"/>
                </a:solidFill>
                <a:latin typeface="Calibri"/>
                <a:cs typeface="Calibri"/>
              </a:rPr>
              <a:t>LL</a:t>
            </a:r>
            <a:r>
              <a:rPr dirty="0" sz="2250">
                <a:solidFill>
                  <a:srgbClr val="3B82F6"/>
                </a:solidFill>
                <a:latin typeface="Calibri"/>
                <a:cs typeface="Calibri"/>
              </a:rPr>
              <a:t>	E</a:t>
            </a:r>
            <a:r>
              <a:rPr dirty="0" sz="2250" spc="-40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dirty="0" sz="2250" spc="-50">
                <a:solidFill>
                  <a:srgbClr val="3B82F6"/>
                </a:solidFill>
                <a:latin typeface="Calibri"/>
                <a:cs typeface="Calibri"/>
              </a:rPr>
              <a:t>N</a:t>
            </a:r>
            <a:r>
              <a:rPr dirty="0" sz="2250" spc="-110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dirty="0" sz="2250" spc="-50">
                <a:solidFill>
                  <a:srgbClr val="3B82F6"/>
                </a:solidFill>
                <a:latin typeface="Calibri"/>
                <a:cs typeface="Calibri"/>
              </a:rPr>
              <a:t>G</a:t>
            </a:r>
            <a:r>
              <a:rPr dirty="0" sz="2250" spc="-90">
                <a:solidFill>
                  <a:srgbClr val="3B82F6"/>
                </a:solidFill>
                <a:latin typeface="Calibri"/>
                <a:cs typeface="Calibri"/>
              </a:rPr>
              <a:t> </a:t>
            </a:r>
            <a:r>
              <a:rPr dirty="0" sz="2250" spc="-50">
                <a:solidFill>
                  <a:srgbClr val="3B82F6"/>
                </a:solidFill>
                <a:latin typeface="Calibri"/>
                <a:cs typeface="Calibri"/>
              </a:rPr>
              <a:t>E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78265" y="1110739"/>
            <a:ext cx="7198359" cy="23964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582295">
              <a:lnSpc>
                <a:spcPts val="9180"/>
              </a:lnSpc>
              <a:spcBef>
                <a:spcPts val="105"/>
              </a:spcBef>
              <a:tabLst>
                <a:tab pos="5081270" algn="l"/>
              </a:tabLst>
            </a:pPr>
            <a:r>
              <a:rPr dirty="0" sz="8050" spc="-10">
                <a:solidFill>
                  <a:srgbClr val="161616"/>
                </a:solidFill>
              </a:rPr>
              <a:t>usrec</a:t>
            </a:r>
            <a:r>
              <a:rPr dirty="0" sz="8050">
                <a:solidFill>
                  <a:srgbClr val="161616"/>
                </a:solidFill>
              </a:rPr>
              <a:t>	</a:t>
            </a:r>
            <a:r>
              <a:rPr dirty="0" sz="8050" spc="-275">
                <a:solidFill>
                  <a:srgbClr val="161616"/>
                </a:solidFill>
              </a:rPr>
              <a:t>en</a:t>
            </a:r>
            <a:r>
              <a:rPr dirty="0" sz="8050" spc="725">
                <a:solidFill>
                  <a:srgbClr val="161616"/>
                </a:solidFill>
              </a:rPr>
              <a:t> </a:t>
            </a:r>
            <a:r>
              <a:rPr dirty="0" sz="8050" spc="-345">
                <a:solidFill>
                  <a:srgbClr val="161616"/>
                </a:solidFill>
              </a:rPr>
              <a:t>is</a:t>
            </a:r>
            <a:endParaRPr sz="8050"/>
          </a:p>
          <a:p>
            <a:pPr marL="12700">
              <a:lnSpc>
                <a:spcPts val="9480"/>
              </a:lnSpc>
              <a:tabLst>
                <a:tab pos="2254250" algn="l"/>
                <a:tab pos="4389120" algn="l"/>
              </a:tabLst>
            </a:pPr>
            <a:r>
              <a:rPr dirty="0" sz="8300" spc="-535">
                <a:solidFill>
                  <a:srgbClr val="3B82F6"/>
                </a:solidFill>
              </a:rPr>
              <a:t>en</a:t>
            </a:r>
            <a:r>
              <a:rPr dirty="0" sz="8300">
                <a:solidFill>
                  <a:srgbClr val="3B82F6"/>
                </a:solidFill>
              </a:rPr>
              <a:t>	</a:t>
            </a:r>
            <a:r>
              <a:rPr dirty="0" sz="8300" spc="-585">
                <a:solidFill>
                  <a:srgbClr val="3B82F6"/>
                </a:solidFill>
              </a:rPr>
              <a:t>ra</a:t>
            </a:r>
            <a:r>
              <a:rPr dirty="0" sz="8300">
                <a:solidFill>
                  <a:srgbClr val="3B82F6"/>
                </a:solidFill>
              </a:rPr>
              <a:t>	</a:t>
            </a:r>
            <a:r>
              <a:rPr dirty="0" sz="8300" spc="-540">
                <a:solidFill>
                  <a:srgbClr val="3B82F6"/>
                </a:solidFill>
              </a:rPr>
              <a:t>en</a:t>
            </a:r>
            <a:endParaRPr sz="8300"/>
          </a:p>
        </p:txBody>
      </p:sp>
      <p:sp>
        <p:nvSpPr>
          <p:cNvPr id="7" name="object 7" descr=""/>
          <p:cNvSpPr txBox="1"/>
          <p:nvPr/>
        </p:nvSpPr>
        <p:spPr>
          <a:xfrm>
            <a:off x="1896411" y="5188711"/>
            <a:ext cx="3806825" cy="3444875"/>
          </a:xfrm>
          <a:prstGeom prst="rect">
            <a:avLst/>
          </a:prstGeom>
        </p:spPr>
        <p:txBody>
          <a:bodyPr wrap="square" lIns="0" tIns="285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0"/>
              </a:spcBef>
            </a:pPr>
            <a:r>
              <a:rPr dirty="0" sz="3600" spc="-110">
                <a:solidFill>
                  <a:srgbClr val="1A1A1A"/>
                </a:solidFill>
                <a:latin typeface="Calibri"/>
                <a:cs typeface="Calibri"/>
              </a:rPr>
              <a:t>I*IanuaI</a:t>
            </a:r>
            <a:r>
              <a:rPr dirty="0" sz="3600" spc="-4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3600" spc="160">
                <a:solidFill>
                  <a:srgbClr val="1A1A1A"/>
                </a:solidFill>
                <a:latin typeface="Calibri"/>
                <a:cs typeface="Calibri"/>
              </a:rPr>
              <a:t>Chaos</a:t>
            </a:r>
            <a:endParaRPr sz="3600">
              <a:latin typeface="Calibri"/>
              <a:cs typeface="Calibri"/>
            </a:endParaRPr>
          </a:p>
          <a:p>
            <a:pPr marL="13970" marR="5080" indent="24130">
              <a:lnSpc>
                <a:spcPct val="114700"/>
              </a:lnSpc>
              <a:spcBef>
                <a:spcPts val="1180"/>
              </a:spcBef>
            </a:pPr>
            <a:r>
              <a:rPr dirty="0" sz="2800" spc="-10">
                <a:solidFill>
                  <a:srgbClr val="62748E"/>
                </a:solidFill>
                <a:latin typeface="Calibri"/>
                <a:cs typeface="Calibri"/>
              </a:rPr>
              <a:t>Spreadsheets,</a:t>
            </a:r>
            <a:r>
              <a:rPr dirty="0" sz="2800" spc="60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62748E"/>
                </a:solidFill>
                <a:latin typeface="Calibri"/>
                <a:cs typeface="Calibri"/>
              </a:rPr>
              <a:t>WhatsApp </a:t>
            </a:r>
            <a:r>
              <a:rPr dirty="0" sz="2800">
                <a:solidFill>
                  <a:srgbClr val="62748E"/>
                </a:solidFill>
                <a:latin typeface="Calibri"/>
                <a:cs typeface="Calibri"/>
              </a:rPr>
              <a:t>proups,</a:t>
            </a:r>
            <a:r>
              <a:rPr dirty="0" sz="2800" spc="-15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2748E"/>
                </a:solidFill>
                <a:latin typeface="Calibri"/>
                <a:cs typeface="Calibri"/>
              </a:rPr>
              <a:t>and</a:t>
            </a:r>
            <a:r>
              <a:rPr dirty="0" sz="2800" spc="-65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 spc="-45">
                <a:solidFill>
                  <a:srgbClr val="62748E"/>
                </a:solidFill>
                <a:latin typeface="Calibri"/>
                <a:cs typeface="Calibri"/>
              </a:rPr>
              <a:t>email</a:t>
            </a:r>
            <a:r>
              <a:rPr dirty="0" sz="2800" spc="-100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62748E"/>
                </a:solidFill>
                <a:latin typeface="Calibri"/>
                <a:cs typeface="Calibri"/>
              </a:rPr>
              <a:t>chains </a:t>
            </a:r>
            <a:r>
              <a:rPr dirty="0" sz="2800" spc="-35">
                <a:solidFill>
                  <a:srgbClr val="627497"/>
                </a:solidFill>
                <a:latin typeface="Calibri"/>
                <a:cs typeface="Calibri"/>
              </a:rPr>
              <a:t>make</a:t>
            </a:r>
            <a:r>
              <a:rPr dirty="0" sz="2800" spc="-95">
                <a:solidFill>
                  <a:srgbClr val="627497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2748E"/>
                </a:solidFill>
                <a:latin typeface="Calibri"/>
                <a:cs typeface="Calibri"/>
              </a:rPr>
              <a:t>tracking</a:t>
            </a:r>
            <a:r>
              <a:rPr dirty="0" sz="2800" spc="5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 spc="-40">
                <a:solidFill>
                  <a:srgbClr val="62748E"/>
                </a:solidFill>
                <a:latin typeface="Calibri"/>
                <a:cs typeface="Calibri"/>
              </a:rPr>
              <a:t>applications </a:t>
            </a:r>
            <a:r>
              <a:rPr dirty="0" sz="2800">
                <a:solidFill>
                  <a:srgbClr val="62748E"/>
                </a:solidFill>
                <a:latin typeface="Calibri"/>
                <a:cs typeface="Calibri"/>
              </a:rPr>
              <a:t>and</a:t>
            </a:r>
            <a:r>
              <a:rPr dirty="0" sz="2800" spc="-114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 spc="-55">
                <a:solidFill>
                  <a:srgbClr val="6277AC"/>
                </a:solidFill>
                <a:latin typeface="Calibri"/>
                <a:cs typeface="Calibri"/>
              </a:rPr>
              <a:t>interview</a:t>
            </a:r>
            <a:r>
              <a:rPr dirty="0" sz="2800" spc="100">
                <a:solidFill>
                  <a:srgbClr val="6277AC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2748E"/>
                </a:solidFill>
                <a:latin typeface="Calibri"/>
                <a:cs typeface="Calibri"/>
              </a:rPr>
              <a:t>slots</a:t>
            </a:r>
            <a:r>
              <a:rPr dirty="0" sz="2800" spc="-55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62748E"/>
                </a:solidFill>
                <a:latin typeface="Calibri"/>
                <a:cs typeface="Calibri"/>
              </a:rPr>
              <a:t>an </a:t>
            </a:r>
            <a:r>
              <a:rPr dirty="0" sz="2800" spc="-50">
                <a:solidFill>
                  <a:srgbClr val="62748E"/>
                </a:solidFill>
                <a:latin typeface="Calibri"/>
                <a:cs typeface="Calibri"/>
              </a:rPr>
              <a:t>administrative</a:t>
            </a:r>
            <a:r>
              <a:rPr dirty="0" sz="2800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6291CA"/>
                </a:solidFill>
                <a:latin typeface="Calibri"/>
                <a:cs typeface="Calibri"/>
              </a:rPr>
              <a:t>nightmare.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822505" y="5181920"/>
            <a:ext cx="4123690" cy="3451860"/>
          </a:xfrm>
          <a:prstGeom prst="rect">
            <a:avLst/>
          </a:prstGeom>
        </p:spPr>
        <p:txBody>
          <a:bodyPr wrap="square" lIns="0" tIns="286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5"/>
              </a:spcBef>
            </a:pPr>
            <a:r>
              <a:rPr dirty="0" sz="3650" spc="125">
                <a:solidFill>
                  <a:srgbClr val="1A1A1A"/>
                </a:solidFill>
                <a:latin typeface="Calibri"/>
                <a:cs typeface="Calibri"/>
              </a:rPr>
              <a:t>No</a:t>
            </a:r>
            <a:r>
              <a:rPr dirty="0" sz="3650" spc="-25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3650" spc="-10">
                <a:solidFill>
                  <a:srgbClr val="1A1A1A"/>
                </a:solidFill>
                <a:latin typeface="Calibri"/>
                <a:cs typeface="Calibri"/>
              </a:rPr>
              <a:t>Visibility</a:t>
            </a:r>
            <a:endParaRPr sz="3650">
              <a:latin typeface="Calibri"/>
              <a:cs typeface="Calibri"/>
            </a:endParaRPr>
          </a:p>
          <a:p>
            <a:pPr marL="24765" marR="5080" indent="13970">
              <a:lnSpc>
                <a:spcPct val="114700"/>
              </a:lnSpc>
              <a:spcBef>
                <a:spcPts val="1170"/>
              </a:spcBef>
            </a:pPr>
            <a:r>
              <a:rPr dirty="0" sz="2800" spc="-70">
                <a:solidFill>
                  <a:srgbClr val="62748E"/>
                </a:solidFill>
                <a:latin typeface="Calibri"/>
                <a:cs typeface="Calibri"/>
              </a:rPr>
              <a:t>Stuclents</a:t>
            </a:r>
            <a:r>
              <a:rPr dirty="0" sz="2800" spc="35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2748E"/>
                </a:solidFill>
                <a:latin typeface="Calibri"/>
                <a:cs typeface="Calibri"/>
              </a:rPr>
              <a:t>have</a:t>
            </a:r>
            <a:r>
              <a:rPr dirty="0" sz="2800" spc="-20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291CA"/>
                </a:solidFill>
                <a:latin typeface="Calibri"/>
                <a:cs typeface="Calibri"/>
              </a:rPr>
              <a:t>no</a:t>
            </a:r>
            <a:r>
              <a:rPr dirty="0" sz="2800" spc="-95">
                <a:solidFill>
                  <a:srgbClr val="6291CA"/>
                </a:solidFill>
                <a:latin typeface="Calibri"/>
                <a:cs typeface="Calibri"/>
              </a:rPr>
              <a:t> </a:t>
            </a:r>
            <a:r>
              <a:rPr dirty="0" sz="2800" spc="-75">
                <a:solidFill>
                  <a:srgbClr val="6277AC"/>
                </a:solidFill>
                <a:latin typeface="Calibri"/>
                <a:cs typeface="Calibri"/>
              </a:rPr>
              <a:t>real-</a:t>
            </a:r>
            <a:r>
              <a:rPr dirty="0" sz="2800" spc="-20">
                <a:solidFill>
                  <a:srgbClr val="6277AC"/>
                </a:solidFill>
                <a:latin typeface="Calibri"/>
                <a:cs typeface="Calibri"/>
              </a:rPr>
              <a:t>time </a:t>
            </a:r>
            <a:r>
              <a:rPr dirty="0" sz="2800">
                <a:solidFill>
                  <a:srgbClr val="62748E"/>
                </a:solidFill>
                <a:latin typeface="Calibri"/>
                <a:cs typeface="Calibri"/>
              </a:rPr>
              <a:t>view</a:t>
            </a:r>
            <a:r>
              <a:rPr dirty="0" sz="2800" spc="-70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2748E"/>
                </a:solidFill>
                <a:latin typeface="Calibri"/>
                <a:cs typeface="Calibri"/>
              </a:rPr>
              <a:t>of</a:t>
            </a:r>
            <a:r>
              <a:rPr dirty="0" sz="2800" spc="-40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 spc="-70">
                <a:solidFill>
                  <a:srgbClr val="62748E"/>
                </a:solidFill>
                <a:latin typeface="Calibri"/>
                <a:cs typeface="Calibri"/>
              </a:rPr>
              <a:t>their</a:t>
            </a:r>
            <a:r>
              <a:rPr dirty="0" sz="2800" spc="-40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62748E"/>
                </a:solidFill>
                <a:latin typeface="Calibri"/>
                <a:cs typeface="Calibri"/>
              </a:rPr>
              <a:t>application </a:t>
            </a:r>
            <a:r>
              <a:rPr dirty="0" sz="2800" spc="-20">
                <a:solidFill>
                  <a:srgbClr val="62748E"/>
                </a:solidFill>
                <a:latin typeface="Calibri"/>
                <a:cs typeface="Calibri"/>
              </a:rPr>
              <a:t>status.</a:t>
            </a:r>
            <a:r>
              <a:rPr dirty="0" sz="2800" spc="15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62748E"/>
                </a:solidFill>
                <a:latin typeface="Calibri"/>
                <a:cs typeface="Calibri"/>
              </a:rPr>
              <a:t>Recruiters</a:t>
            </a:r>
            <a:r>
              <a:rPr dirty="0" sz="2800" spc="35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2748E"/>
                </a:solidFill>
                <a:latin typeface="Calibri"/>
                <a:cs typeface="Calibri"/>
              </a:rPr>
              <a:t>struggle</a:t>
            </a:r>
            <a:r>
              <a:rPr dirty="0" sz="2800" spc="-45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 spc="-75">
                <a:solidFill>
                  <a:srgbClr val="62748E"/>
                </a:solidFill>
                <a:latin typeface="Calibri"/>
                <a:cs typeface="Calibri"/>
              </a:rPr>
              <a:t>to </a:t>
            </a:r>
            <a:r>
              <a:rPr dirty="0" sz="2800" spc="-35">
                <a:solidFill>
                  <a:srgbClr val="62748E"/>
                </a:solidFill>
                <a:latin typeface="Calibri"/>
                <a:cs typeface="Calibri"/>
              </a:rPr>
              <a:t>manape</a:t>
            </a:r>
            <a:r>
              <a:rPr dirty="0" sz="2800" spc="-5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62748E"/>
                </a:solidFill>
                <a:latin typeface="Calibri"/>
                <a:cs typeface="Calibri"/>
              </a:rPr>
              <a:t>applicants</a:t>
            </a:r>
            <a:r>
              <a:rPr dirty="0" sz="2800" spc="-60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62748E"/>
                </a:solidFill>
                <a:latin typeface="Calibri"/>
                <a:cs typeface="Calibri"/>
              </a:rPr>
              <a:t>across </a:t>
            </a:r>
            <a:r>
              <a:rPr dirty="0" sz="2800" spc="-70">
                <a:solidFill>
                  <a:srgbClr val="62748E"/>
                </a:solidFill>
                <a:latin typeface="Calibri"/>
                <a:cs typeface="Calibri"/>
              </a:rPr>
              <a:t>multiple</a:t>
            </a:r>
            <a:r>
              <a:rPr dirty="0" sz="2800" spc="15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62748E"/>
                </a:solidFill>
                <a:latin typeface="Calibri"/>
                <a:cs typeface="Calibri"/>
              </a:rPr>
              <a:t>channels.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764262" y="5188711"/>
            <a:ext cx="4279265" cy="3444875"/>
          </a:xfrm>
          <a:prstGeom prst="rect">
            <a:avLst/>
          </a:prstGeom>
        </p:spPr>
        <p:txBody>
          <a:bodyPr wrap="square" lIns="0" tIns="285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0"/>
              </a:spcBef>
            </a:pPr>
            <a:r>
              <a:rPr dirty="0" sz="3600" spc="75">
                <a:solidFill>
                  <a:srgbClr val="1A1A1A"/>
                </a:solidFill>
                <a:latin typeface="Calibri"/>
                <a:cs typeface="Calibri"/>
              </a:rPr>
              <a:t>Zero</a:t>
            </a:r>
            <a:r>
              <a:rPr dirty="0" sz="3600" spc="-229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3600" spc="100">
                <a:solidFill>
                  <a:srgbClr val="1A1A1A"/>
                </a:solidFill>
                <a:latin typeface="Calibri"/>
                <a:cs typeface="Calibri"/>
              </a:rPr>
              <a:t>Analytics</a:t>
            </a:r>
            <a:endParaRPr sz="3600">
              <a:latin typeface="Calibri"/>
              <a:cs typeface="Calibri"/>
            </a:endParaRPr>
          </a:p>
          <a:p>
            <a:pPr marL="19050" marR="5080" indent="-2540">
              <a:lnSpc>
                <a:spcPct val="114700"/>
              </a:lnSpc>
              <a:spcBef>
                <a:spcPts val="1180"/>
              </a:spcBef>
              <a:tabLst>
                <a:tab pos="1871980" algn="l"/>
                <a:tab pos="2564130" algn="l"/>
              </a:tabLst>
            </a:pPr>
            <a:r>
              <a:rPr dirty="0" sz="2800" spc="-30">
                <a:solidFill>
                  <a:srgbClr val="62748E"/>
                </a:solidFill>
                <a:latin typeface="Calibri"/>
                <a:cs typeface="Calibri"/>
              </a:rPr>
              <a:t>Placement</a:t>
            </a:r>
            <a:r>
              <a:rPr dirty="0" sz="2800" spc="150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2748E"/>
                </a:solidFill>
                <a:latin typeface="Calibri"/>
                <a:cs typeface="Calibri"/>
              </a:rPr>
              <a:t>officers</a:t>
            </a:r>
            <a:r>
              <a:rPr dirty="0" sz="2800" spc="80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277AC"/>
                </a:solidFill>
                <a:latin typeface="Calibri"/>
                <a:cs typeface="Calibri"/>
              </a:rPr>
              <a:t>lack</a:t>
            </a:r>
            <a:r>
              <a:rPr dirty="0" sz="2800" spc="45">
                <a:solidFill>
                  <a:srgbClr val="6277AC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62748E"/>
                </a:solidFill>
                <a:latin typeface="Calibri"/>
                <a:cs typeface="Calibri"/>
              </a:rPr>
              <a:t>clata- </a:t>
            </a:r>
            <a:r>
              <a:rPr dirty="0" sz="2800" spc="-25">
                <a:solidFill>
                  <a:srgbClr val="62748E"/>
                </a:solidFill>
                <a:latin typeface="Calibri"/>
                <a:cs typeface="Calibri"/>
              </a:rPr>
              <a:t>driven</a:t>
            </a:r>
            <a:r>
              <a:rPr dirty="0" sz="2800" spc="-40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627497"/>
                </a:solidFill>
                <a:latin typeface="Calibri"/>
                <a:cs typeface="Calibri"/>
              </a:rPr>
              <a:t>insights</a:t>
            </a:r>
            <a:r>
              <a:rPr dirty="0" sz="2800">
                <a:solidFill>
                  <a:srgbClr val="627497"/>
                </a:solidFill>
                <a:latin typeface="Calibri"/>
                <a:cs typeface="Calibri"/>
              </a:rPr>
              <a:t>	</a:t>
            </a:r>
            <a:r>
              <a:rPr dirty="0" sz="2800" spc="-25">
                <a:solidFill>
                  <a:srgbClr val="62748E"/>
                </a:solidFill>
                <a:latin typeface="Calibri"/>
                <a:cs typeface="Calibri"/>
              </a:rPr>
              <a:t>no </a:t>
            </a:r>
            <a:r>
              <a:rPr dirty="0" sz="2800" spc="-45">
                <a:solidFill>
                  <a:srgbClr val="62748E"/>
                </a:solidFill>
                <a:latin typeface="Calibri"/>
                <a:cs typeface="Calibri"/>
              </a:rPr>
              <a:t>placement</a:t>
            </a:r>
            <a:r>
              <a:rPr dirty="0" sz="2800" spc="-10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2748E"/>
                </a:solidFill>
                <a:latin typeface="Calibri"/>
                <a:cs typeface="Calibri"/>
              </a:rPr>
              <a:t>rates,</a:t>
            </a:r>
            <a:r>
              <a:rPr dirty="0" sz="2800" spc="-60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277AC"/>
                </a:solidFill>
                <a:latin typeface="Calibri"/>
                <a:cs typeface="Calibri"/>
              </a:rPr>
              <a:t>no</a:t>
            </a:r>
            <a:r>
              <a:rPr dirty="0" sz="2800" spc="-55">
                <a:solidFill>
                  <a:srgbClr val="6277AC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62748E"/>
                </a:solidFill>
                <a:latin typeface="Calibri"/>
                <a:cs typeface="Calibri"/>
              </a:rPr>
              <a:t>company comparison,</a:t>
            </a:r>
            <a:r>
              <a:rPr dirty="0" sz="2800">
                <a:solidFill>
                  <a:srgbClr val="62748E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6277AC"/>
                </a:solidFill>
                <a:latin typeface="Calibri"/>
                <a:cs typeface="Calibri"/>
              </a:rPr>
              <a:t>no</a:t>
            </a:r>
            <a:r>
              <a:rPr dirty="0" sz="2800" spc="-125">
                <a:solidFill>
                  <a:srgbClr val="6277AC"/>
                </a:solidFill>
                <a:latin typeface="Calibri"/>
                <a:cs typeface="Calibri"/>
              </a:rPr>
              <a:t> </a:t>
            </a:r>
            <a:r>
              <a:rPr dirty="0" sz="2800" spc="-45">
                <a:solidFill>
                  <a:srgbClr val="62748E"/>
                </a:solidFill>
                <a:latin typeface="Calibri"/>
                <a:cs typeface="Calibri"/>
              </a:rPr>
              <a:t>trend</a:t>
            </a:r>
            <a:r>
              <a:rPr dirty="0" sz="2800" spc="-100">
                <a:solidFill>
                  <a:srgbClr val="62748E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62748E"/>
                </a:solidFill>
                <a:latin typeface="Calibri"/>
                <a:cs typeface="Calibri"/>
              </a:rPr>
              <a:t>tracking </a:t>
            </a:r>
            <a:r>
              <a:rPr dirty="0" sz="2800" spc="-25">
                <a:solidFill>
                  <a:srgbClr val="62749E"/>
                </a:solidFill>
                <a:latin typeface="Calibri"/>
                <a:cs typeface="Calibri"/>
              </a:rPr>
              <a:t>for</a:t>
            </a:r>
            <a:r>
              <a:rPr dirty="0" sz="2800" spc="-75">
                <a:solidFill>
                  <a:srgbClr val="62749E"/>
                </a:solidFill>
                <a:latin typeface="Calibri"/>
                <a:cs typeface="Calibri"/>
              </a:rPr>
              <a:t> </a:t>
            </a:r>
            <a:r>
              <a:rPr dirty="0" sz="2800" spc="-60">
                <a:solidFill>
                  <a:srgbClr val="62749E"/>
                </a:solidFill>
                <a:latin typeface="Calibri"/>
                <a:cs typeface="Calibri"/>
              </a:rPr>
              <a:t>future</a:t>
            </a:r>
            <a:r>
              <a:rPr dirty="0" sz="2800" spc="-80">
                <a:solidFill>
                  <a:srgbClr val="62749E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62748E"/>
                </a:solidFill>
                <a:latin typeface="Calibri"/>
                <a:cs typeface="Calibri"/>
              </a:rPr>
              <a:t>planning.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0" y="4429184"/>
            <a:ext cx="20093629" cy="82719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0470" y="1455453"/>
            <a:ext cx="20093940" cy="880110"/>
            <a:chOff x="10470" y="1455453"/>
            <a:chExt cx="20093940" cy="88011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70" y="1455453"/>
              <a:ext cx="20093629" cy="87955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198885" y="1633458"/>
              <a:ext cx="974090" cy="523875"/>
            </a:xfrm>
            <a:custGeom>
              <a:avLst/>
              <a:gdLst/>
              <a:ahLst/>
              <a:cxnLst/>
              <a:rect l="l" t="t" r="r" b="b"/>
              <a:pathLst>
                <a:path w="974089" h="523875">
                  <a:moveTo>
                    <a:pt x="973792" y="523544"/>
                  </a:moveTo>
                  <a:lnTo>
                    <a:pt x="0" y="523544"/>
                  </a:lnTo>
                  <a:lnTo>
                    <a:pt x="0" y="0"/>
                  </a:lnTo>
                  <a:lnTo>
                    <a:pt x="973792" y="0"/>
                  </a:lnTo>
                  <a:lnTo>
                    <a:pt x="973792" y="523544"/>
                  </a:lnTo>
                  <a:close/>
                </a:path>
              </a:pathLst>
            </a:custGeom>
            <a:solidFill>
              <a:srgbClr val="111C3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121749" y="1120627"/>
            <a:ext cx="1101725" cy="1228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900" spc="170">
                <a:solidFill>
                  <a:srgbClr val="FFFFFF"/>
                </a:solidFill>
                <a:latin typeface="Calibri"/>
                <a:cs typeface="Calibri"/>
              </a:rPr>
              <a:t>ne</a:t>
            </a:r>
            <a:endParaRPr sz="79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926642" y="6177822"/>
            <a:ext cx="1979295" cy="408940"/>
          </a:xfrm>
          <a:custGeom>
            <a:avLst/>
            <a:gdLst/>
            <a:ahLst/>
            <a:cxnLst/>
            <a:rect l="l" t="t" r="r" b="b"/>
            <a:pathLst>
              <a:path w="1979295" h="408940">
                <a:moveTo>
                  <a:pt x="1978996" y="408364"/>
                </a:moveTo>
                <a:lnTo>
                  <a:pt x="0" y="408364"/>
                </a:lnTo>
                <a:lnTo>
                  <a:pt x="0" y="0"/>
                </a:lnTo>
                <a:lnTo>
                  <a:pt x="1978996" y="0"/>
                </a:lnTo>
                <a:lnTo>
                  <a:pt x="1978996" y="408364"/>
                </a:lnTo>
                <a:close/>
              </a:path>
            </a:pathLst>
          </a:custGeom>
          <a:solidFill>
            <a:srgbClr val="162A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915824" y="6002823"/>
            <a:ext cx="1976120" cy="6851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300" spc="20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endParaRPr sz="43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7141143" y="1633458"/>
            <a:ext cx="3623310" cy="523875"/>
            <a:chOff x="7141143" y="1633458"/>
            <a:chExt cx="3623310" cy="523875"/>
          </a:xfrm>
        </p:grpSpPr>
        <p:sp>
          <p:nvSpPr>
            <p:cNvPr id="10" name="object 10" descr=""/>
            <p:cNvSpPr/>
            <p:nvPr/>
          </p:nvSpPr>
          <p:spPr>
            <a:xfrm>
              <a:off x="7141143" y="1633458"/>
              <a:ext cx="2261870" cy="523875"/>
            </a:xfrm>
            <a:custGeom>
              <a:avLst/>
              <a:gdLst/>
              <a:ahLst/>
              <a:cxnLst/>
              <a:rect l="l" t="t" r="r" b="b"/>
              <a:pathLst>
                <a:path w="2261870" h="523875">
                  <a:moveTo>
                    <a:pt x="2261710" y="523544"/>
                  </a:moveTo>
                  <a:lnTo>
                    <a:pt x="0" y="523544"/>
                  </a:lnTo>
                  <a:lnTo>
                    <a:pt x="0" y="0"/>
                  </a:lnTo>
                  <a:lnTo>
                    <a:pt x="2261710" y="0"/>
                  </a:lnTo>
                  <a:lnTo>
                    <a:pt x="2261710" y="523544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601802" y="1633458"/>
              <a:ext cx="1162685" cy="523875"/>
            </a:xfrm>
            <a:custGeom>
              <a:avLst/>
              <a:gdLst/>
              <a:ahLst/>
              <a:cxnLst/>
              <a:rect l="l" t="t" r="r" b="b"/>
              <a:pathLst>
                <a:path w="1162684" h="523875">
                  <a:moveTo>
                    <a:pt x="1162267" y="523544"/>
                  </a:moveTo>
                  <a:lnTo>
                    <a:pt x="0" y="523544"/>
                  </a:lnTo>
                  <a:lnTo>
                    <a:pt x="0" y="0"/>
                  </a:lnTo>
                  <a:lnTo>
                    <a:pt x="1162267" y="0"/>
                  </a:lnTo>
                  <a:lnTo>
                    <a:pt x="1162267" y="523544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096828" y="1095469"/>
            <a:ext cx="3752850" cy="12719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150" spc="-204">
                <a:latin typeface="Cambria"/>
                <a:cs typeface="Cambria"/>
              </a:rPr>
              <a:t>reero</a:t>
            </a:r>
            <a:r>
              <a:rPr dirty="0" sz="8150" spc="-550">
                <a:latin typeface="Cambria"/>
                <a:cs typeface="Cambria"/>
              </a:rPr>
              <a:t> </a:t>
            </a:r>
            <a:r>
              <a:rPr dirty="0" sz="7500" spc="-25" i="1">
                <a:latin typeface="Arial"/>
                <a:cs typeface="Arial"/>
              </a:rPr>
              <a:t>es.</a:t>
            </a:r>
            <a:endParaRPr sz="7500">
              <a:latin typeface="Arial"/>
              <a:cs typeface="Arial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0470" y="5601923"/>
            <a:ext cx="20083780" cy="188595"/>
          </a:xfrm>
          <a:custGeom>
            <a:avLst/>
            <a:gdLst/>
            <a:ahLst/>
            <a:cxnLst/>
            <a:rect l="l" t="t" r="r" b="b"/>
            <a:pathLst>
              <a:path w="20083780" h="188595">
                <a:moveTo>
                  <a:pt x="20083153" y="188475"/>
                </a:moveTo>
                <a:lnTo>
                  <a:pt x="0" y="188475"/>
                </a:lnTo>
                <a:lnTo>
                  <a:pt x="0" y="0"/>
                </a:lnTo>
                <a:lnTo>
                  <a:pt x="20083153" y="0"/>
                </a:lnTo>
                <a:lnTo>
                  <a:pt x="20083153" y="188475"/>
                </a:lnTo>
                <a:close/>
              </a:path>
            </a:pathLst>
          </a:custGeom>
          <a:solidFill>
            <a:srgbClr val="111D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3703499" y="5492367"/>
            <a:ext cx="1166495" cy="3556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150" spc="-220">
                <a:solidFill>
                  <a:srgbClr val="FFAF05"/>
                </a:solidFill>
                <a:latin typeface="Arial MT"/>
                <a:cs typeface="Arial MT"/>
              </a:rPr>
              <a:t>RO</a:t>
            </a:r>
            <a:r>
              <a:rPr dirty="0" sz="2150" spc="-360">
                <a:solidFill>
                  <a:srgbClr val="FFAF05"/>
                </a:solidFill>
                <a:latin typeface="Arial MT"/>
                <a:cs typeface="Arial MT"/>
              </a:rPr>
              <a:t> </a:t>
            </a:r>
            <a:r>
              <a:rPr dirty="0" sz="2150" spc="-210">
                <a:solidFill>
                  <a:srgbClr val="793828"/>
                </a:solidFill>
                <a:latin typeface="Arial MT"/>
                <a:cs typeface="Arial MT"/>
              </a:rPr>
              <a:t>L</a:t>
            </a:r>
            <a:r>
              <a:rPr dirty="0" sz="2150" spc="-285">
                <a:solidFill>
                  <a:srgbClr val="793828"/>
                </a:solidFill>
                <a:latin typeface="Arial MT"/>
                <a:cs typeface="Arial MT"/>
              </a:rPr>
              <a:t> </a:t>
            </a:r>
            <a:r>
              <a:rPr dirty="0" sz="2150" spc="-450">
                <a:solidFill>
                  <a:srgbClr val="AA4F26"/>
                </a:solidFill>
                <a:latin typeface="Arial MT"/>
                <a:cs typeface="Arial MT"/>
              </a:rPr>
              <a:t>E</a:t>
            </a:r>
            <a:r>
              <a:rPr dirty="0" sz="2150" spc="405">
                <a:solidFill>
                  <a:srgbClr val="AA4F26"/>
                </a:solidFill>
                <a:latin typeface="Arial MT"/>
                <a:cs typeface="Arial MT"/>
              </a:rPr>
              <a:t> </a:t>
            </a:r>
            <a:r>
              <a:rPr dirty="0" sz="2150" spc="90">
                <a:solidFill>
                  <a:srgbClr val="F79318"/>
                </a:solidFill>
                <a:latin typeface="Arial MT"/>
                <a:cs typeface="Arial MT"/>
              </a:rPr>
              <a:t>0</a:t>
            </a:r>
            <a:r>
              <a:rPr dirty="0" sz="2150" spc="90">
                <a:solidFill>
                  <a:srgbClr val="AA800F"/>
                </a:solidFill>
                <a:latin typeface="Arial MT"/>
                <a:cs typeface="Arial MT"/>
              </a:rPr>
              <a:t>3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7842693" y="6188293"/>
            <a:ext cx="2240915" cy="398145"/>
          </a:xfrm>
          <a:custGeom>
            <a:avLst/>
            <a:gdLst/>
            <a:ahLst/>
            <a:cxnLst/>
            <a:rect l="l" t="t" r="r" b="b"/>
            <a:pathLst>
              <a:path w="2240915" h="398145">
                <a:moveTo>
                  <a:pt x="2240769" y="397893"/>
                </a:moveTo>
                <a:lnTo>
                  <a:pt x="0" y="397893"/>
                </a:lnTo>
                <a:lnTo>
                  <a:pt x="0" y="0"/>
                </a:lnTo>
                <a:lnTo>
                  <a:pt x="2240769" y="0"/>
                </a:lnTo>
                <a:lnTo>
                  <a:pt x="2240769" y="397893"/>
                </a:lnTo>
                <a:close/>
              </a:path>
            </a:pathLst>
          </a:custGeom>
          <a:solidFill>
            <a:srgbClr val="0F2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7795578" y="6018093"/>
            <a:ext cx="22860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200" spc="210">
                <a:solidFill>
                  <a:srgbClr val="FFFFFF"/>
                </a:solidFill>
                <a:latin typeface="Calibri"/>
                <a:cs typeface="Calibri"/>
              </a:rPr>
              <a:t>Recruiter</a:t>
            </a:r>
            <a:endParaRPr sz="4200">
              <a:latin typeface="Calibri"/>
              <a:cs typeface="Calibri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3727331" y="6177822"/>
            <a:ext cx="1759585" cy="408940"/>
          </a:xfrm>
          <a:custGeom>
            <a:avLst/>
            <a:gdLst/>
            <a:ahLst/>
            <a:cxnLst/>
            <a:rect l="l" t="t" r="r" b="b"/>
            <a:pathLst>
              <a:path w="1759584" h="408940">
                <a:moveTo>
                  <a:pt x="1759108" y="408364"/>
                </a:moveTo>
                <a:lnTo>
                  <a:pt x="0" y="408364"/>
                </a:lnTo>
                <a:lnTo>
                  <a:pt x="0" y="0"/>
                </a:lnTo>
                <a:lnTo>
                  <a:pt x="1759108" y="0"/>
                </a:lnTo>
                <a:lnTo>
                  <a:pt x="1759108" y="408364"/>
                </a:lnTo>
                <a:close/>
              </a:path>
            </a:pathLst>
          </a:custGeom>
          <a:solidFill>
            <a:srgbClr val="2428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0470" y="7067847"/>
            <a:ext cx="20083780" cy="283210"/>
          </a:xfrm>
          <a:custGeom>
            <a:avLst/>
            <a:gdLst/>
            <a:ahLst/>
            <a:cxnLst/>
            <a:rect l="l" t="t" r="r" b="b"/>
            <a:pathLst>
              <a:path w="20083780" h="283209">
                <a:moveTo>
                  <a:pt x="20083153" y="282713"/>
                </a:moveTo>
                <a:lnTo>
                  <a:pt x="0" y="282713"/>
                </a:lnTo>
                <a:lnTo>
                  <a:pt x="0" y="0"/>
                </a:lnTo>
                <a:lnTo>
                  <a:pt x="20083153" y="0"/>
                </a:lnTo>
                <a:lnTo>
                  <a:pt x="20083153" y="282713"/>
                </a:lnTo>
                <a:close/>
              </a:path>
            </a:pathLst>
          </a:custGeom>
          <a:solidFill>
            <a:srgbClr val="111C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2175032" y="6969345"/>
            <a:ext cx="3315335" cy="3797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016760" algn="l"/>
              </a:tabLst>
            </a:pPr>
            <a:r>
              <a:rPr dirty="0" sz="2300" spc="-265">
                <a:solidFill>
                  <a:srgbClr val="D4D4D4"/>
                </a:solidFill>
                <a:latin typeface="Arial MT"/>
                <a:cs typeface="Arial MT"/>
              </a:rPr>
              <a:t>B</a:t>
            </a:r>
            <a:r>
              <a:rPr dirty="0" sz="2300" spc="32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D4D4D4"/>
                </a:solidFill>
                <a:latin typeface="Arial MT"/>
                <a:cs typeface="Arial MT"/>
              </a:rPr>
              <a:t>owse</a:t>
            </a:r>
            <a:r>
              <a:rPr dirty="0" sz="2300" spc="19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00" spc="-295">
                <a:solidFill>
                  <a:srgbClr val="D4D4D4"/>
                </a:solidFill>
                <a:latin typeface="Arial MT"/>
                <a:cs typeface="Arial MT"/>
              </a:rPr>
              <a:t>&amp;</a:t>
            </a:r>
            <a:r>
              <a:rPr dirty="0" sz="2300" spc="8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00" spc="50">
                <a:solidFill>
                  <a:srgbClr val="D4D4D4"/>
                </a:solidFill>
                <a:latin typeface="Arial MT"/>
                <a:cs typeface="Arial MT"/>
              </a:rPr>
              <a:t>fil</a:t>
            </a:r>
            <a:r>
              <a:rPr dirty="0" sz="2300" spc="20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00" spc="-60">
                <a:solidFill>
                  <a:srgbClr val="D4D4D4"/>
                </a:solidFill>
                <a:latin typeface="Arial MT"/>
                <a:cs typeface="Arial MT"/>
              </a:rPr>
              <a:t>e</a:t>
            </a:r>
            <a:r>
              <a:rPr dirty="0" sz="2300">
                <a:solidFill>
                  <a:srgbClr val="D4D4D4"/>
                </a:solidFill>
                <a:latin typeface="Arial MT"/>
                <a:cs typeface="Arial MT"/>
              </a:rPr>
              <a:t>	Indian</a:t>
            </a:r>
            <a:r>
              <a:rPr dirty="0" sz="2300" spc="114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00" spc="-60">
                <a:solidFill>
                  <a:srgbClr val="D4D4D4"/>
                </a:solidFill>
                <a:latin typeface="Arial MT"/>
                <a:cs typeface="Arial MT"/>
              </a:rPr>
              <a:t>”ob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069773" y="6979525"/>
            <a:ext cx="3861435" cy="367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83895" algn="l"/>
                <a:tab pos="3369945" algn="l"/>
              </a:tabLst>
            </a:pPr>
            <a:r>
              <a:rPr dirty="0" sz="2250" spc="-25">
                <a:solidFill>
                  <a:srgbClr val="D4D4D4"/>
                </a:solidFill>
                <a:latin typeface="Arial MT"/>
                <a:cs typeface="Arial MT"/>
              </a:rPr>
              <a:t>Pos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	”obs</a:t>
            </a:r>
            <a:r>
              <a:rPr dirty="0" sz="2250" spc="18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with</a:t>
            </a:r>
            <a:r>
              <a:rPr dirty="0" sz="2250" spc="16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domain</a:t>
            </a:r>
            <a:r>
              <a:rPr dirty="0" sz="2250" spc="22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305">
                <a:solidFill>
                  <a:srgbClr val="D4D4D4"/>
                </a:solidFill>
                <a:latin typeface="Arial MT"/>
                <a:cs typeface="Arial MT"/>
              </a:rPr>
              <a:t>&amp;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	</a:t>
            </a:r>
            <a:r>
              <a:rPr dirty="0" sz="2250" spc="-25">
                <a:solidFill>
                  <a:srgbClr val="D4D4D4"/>
                </a:solidFill>
                <a:latin typeface="Arial MT"/>
                <a:cs typeface="Arial MT"/>
              </a:rPr>
              <a:t>ype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3699751" y="6028273"/>
            <a:ext cx="2570480" cy="13220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190">
                <a:solidFill>
                  <a:srgbClr val="FFFFFF"/>
                </a:solidFill>
                <a:latin typeface="Arial MT"/>
                <a:cs typeface="Arial MT"/>
              </a:rPr>
              <a:t>Ofhcer</a:t>
            </a:r>
            <a:endParaRPr sz="41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2440"/>
              </a:spcBef>
              <a:tabLst>
                <a:tab pos="1943100" algn="l"/>
              </a:tabLst>
            </a:pPr>
            <a:r>
              <a:rPr dirty="0" sz="2350">
                <a:solidFill>
                  <a:srgbClr val="D4D4D4"/>
                </a:solidFill>
                <a:latin typeface="Arial MT"/>
                <a:cs typeface="Arial MT"/>
              </a:rPr>
              <a:t>App</a:t>
            </a:r>
            <a:r>
              <a:rPr dirty="0" sz="2350" spc="7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D4D4D4"/>
                </a:solidFill>
                <a:latin typeface="Arial MT"/>
                <a:cs typeface="Arial MT"/>
              </a:rPr>
              <a:t>ove</a:t>
            </a:r>
            <a:r>
              <a:rPr dirty="0" sz="2350" spc="-2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50" spc="-50">
                <a:solidFill>
                  <a:srgbClr val="D4D4D4"/>
                </a:solidFill>
                <a:latin typeface="Arial MT"/>
                <a:cs typeface="Arial MT"/>
              </a:rPr>
              <a:t>o</a:t>
            </a:r>
            <a:r>
              <a:rPr dirty="0" sz="2350">
                <a:solidFill>
                  <a:srgbClr val="D4D4D4"/>
                </a:solidFill>
                <a:latin typeface="Arial MT"/>
                <a:cs typeface="Arial MT"/>
              </a:rPr>
              <a:t>	</a:t>
            </a:r>
            <a:r>
              <a:rPr dirty="0" sz="2350" spc="-25">
                <a:solidFill>
                  <a:srgbClr val="D4D4D4"/>
                </a:solidFill>
                <a:latin typeface="Arial MT"/>
                <a:cs typeface="Arial MT"/>
              </a:rPr>
              <a:t>eject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6457479" y="6964254"/>
            <a:ext cx="1172210" cy="3860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433705" algn="l"/>
                <a:tab pos="1040130" algn="l"/>
              </a:tabLst>
            </a:pPr>
            <a:r>
              <a:rPr dirty="0" sz="2350" spc="-25">
                <a:solidFill>
                  <a:srgbClr val="D4D4D4"/>
                </a:solidFill>
                <a:latin typeface="Arial MT"/>
                <a:cs typeface="Arial MT"/>
              </a:rPr>
              <a:t>ec</a:t>
            </a:r>
            <a:r>
              <a:rPr dirty="0" sz="2350">
                <a:solidFill>
                  <a:srgbClr val="D4D4D4"/>
                </a:solidFill>
                <a:latin typeface="Arial MT"/>
                <a:cs typeface="Arial MT"/>
              </a:rPr>
              <a:t>	</a:t>
            </a:r>
            <a:r>
              <a:rPr dirty="0" sz="2350" spc="-20">
                <a:solidFill>
                  <a:srgbClr val="D4D4D4"/>
                </a:solidFill>
                <a:latin typeface="Arial MT"/>
                <a:cs typeface="Arial MT"/>
              </a:rPr>
              <a:t>uite</a:t>
            </a:r>
            <a:r>
              <a:rPr dirty="0" sz="2350">
                <a:solidFill>
                  <a:srgbClr val="D4D4D4"/>
                </a:solidFill>
                <a:latin typeface="Arial MT"/>
                <a:cs typeface="Arial MT"/>
              </a:rPr>
              <a:t>	</a:t>
            </a:r>
            <a:r>
              <a:rPr dirty="0" sz="2350" spc="-195">
                <a:solidFill>
                  <a:srgbClr val="D4D4D4"/>
                </a:solidFill>
                <a:latin typeface="Arial MT"/>
                <a:cs typeface="Arial MT"/>
              </a:rPr>
              <a:t>s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0470" y="7497154"/>
            <a:ext cx="20083780" cy="419100"/>
          </a:xfrm>
          <a:custGeom>
            <a:avLst/>
            <a:gdLst/>
            <a:ahLst/>
            <a:cxnLst/>
            <a:rect l="l" t="t" r="r" b="b"/>
            <a:pathLst>
              <a:path w="20083780" h="419100">
                <a:moveTo>
                  <a:pt x="20083153" y="418835"/>
                </a:moveTo>
                <a:lnTo>
                  <a:pt x="0" y="418835"/>
                </a:lnTo>
                <a:lnTo>
                  <a:pt x="0" y="0"/>
                </a:lnTo>
                <a:lnTo>
                  <a:pt x="20083153" y="0"/>
                </a:lnTo>
                <a:lnTo>
                  <a:pt x="20083153" y="418835"/>
                </a:lnTo>
                <a:close/>
              </a:path>
            </a:pathLst>
          </a:custGeom>
          <a:solidFill>
            <a:srgbClr val="111C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2178422" y="7408831"/>
            <a:ext cx="939800" cy="367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listin</a:t>
            </a:r>
            <a:r>
              <a:rPr dirty="0" sz="2250" spc="-33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25">
                <a:solidFill>
                  <a:srgbClr val="D4D4D4"/>
                </a:solidFill>
                <a:latin typeface="Arial MT"/>
                <a:cs typeface="Arial MT"/>
              </a:rPr>
              <a:t>gs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065813" y="7408831"/>
            <a:ext cx="586105" cy="367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50" spc="-20">
                <a:solidFill>
                  <a:srgbClr val="D4D4D4"/>
                </a:solidFill>
                <a:latin typeface="Arial MT"/>
                <a:cs typeface="Arial MT"/>
              </a:rPr>
              <a:t>tags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10470" y="8052110"/>
            <a:ext cx="20083780" cy="419100"/>
          </a:xfrm>
          <a:custGeom>
            <a:avLst/>
            <a:gdLst/>
            <a:ahLst/>
            <a:cxnLst/>
            <a:rect l="l" t="t" r="r" b="b"/>
            <a:pathLst>
              <a:path w="20083780" h="419100">
                <a:moveTo>
                  <a:pt x="20083153" y="418835"/>
                </a:moveTo>
                <a:lnTo>
                  <a:pt x="0" y="418835"/>
                </a:lnTo>
                <a:lnTo>
                  <a:pt x="0" y="0"/>
                </a:lnTo>
                <a:lnTo>
                  <a:pt x="20083153" y="0"/>
                </a:lnTo>
                <a:lnTo>
                  <a:pt x="20083153" y="418835"/>
                </a:lnTo>
                <a:close/>
              </a:path>
            </a:pathLst>
          </a:custGeom>
          <a:solidFill>
            <a:srgbClr val="111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2176141" y="7958697"/>
            <a:ext cx="2673985" cy="374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Apply</a:t>
            </a:r>
            <a:r>
              <a:rPr dirty="0" sz="2250" spc="31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with</a:t>
            </a:r>
            <a:r>
              <a:rPr dirty="0" sz="2250" spc="29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one</a:t>
            </a:r>
            <a:r>
              <a:rPr dirty="0" sz="2250" spc="254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D4D4D4"/>
                </a:solidFill>
                <a:latin typeface="Arial MT"/>
                <a:cs typeface="Arial MT"/>
              </a:rPr>
              <a:t>click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10470" y="9036374"/>
            <a:ext cx="20083780" cy="1330325"/>
          </a:xfrm>
          <a:custGeom>
            <a:avLst/>
            <a:gdLst/>
            <a:ahLst/>
            <a:cxnLst/>
            <a:rect l="l" t="t" r="r" b="b"/>
            <a:pathLst>
              <a:path w="20083780" h="1330325">
                <a:moveTo>
                  <a:pt x="20083153" y="1329802"/>
                </a:moveTo>
                <a:lnTo>
                  <a:pt x="0" y="1329802"/>
                </a:lnTo>
                <a:lnTo>
                  <a:pt x="0" y="0"/>
                </a:lnTo>
                <a:lnTo>
                  <a:pt x="20083153" y="0"/>
                </a:lnTo>
                <a:lnTo>
                  <a:pt x="20083153" y="1329802"/>
                </a:lnTo>
                <a:close/>
              </a:path>
            </a:pathLst>
          </a:custGeom>
          <a:solidFill>
            <a:srgbClr val="0F18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13964885" y="9220294"/>
            <a:ext cx="4136390" cy="367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dirty="0" sz="2250" spc="-25">
                <a:solidFill>
                  <a:srgbClr val="D4D4D4"/>
                </a:solidFill>
                <a:latin typeface="Arial MT"/>
                <a:cs typeface="Arial MT"/>
              </a:rPr>
              <a:t>Po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	tal-</a:t>
            </a:r>
            <a:r>
              <a:rPr dirty="0" sz="2250" spc="75">
                <a:solidFill>
                  <a:srgbClr val="D4D4D4"/>
                </a:solidFill>
                <a:latin typeface="Arial MT"/>
                <a:cs typeface="Arial MT"/>
              </a:rPr>
              <a:t>wide</a:t>
            </a:r>
            <a:r>
              <a:rPr dirty="0" sz="2250" spc="29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ove</a:t>
            </a:r>
            <a:r>
              <a:rPr dirty="0" sz="2250" spc="43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sight</a:t>
            </a:r>
            <a:r>
              <a:rPr dirty="0" sz="2250" spc="28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254">
                <a:solidFill>
                  <a:srgbClr val="D4D4D4"/>
                </a:solidFill>
                <a:latin typeface="Arial MT"/>
                <a:cs typeface="Arial MT"/>
              </a:rPr>
              <a:t>&amp;</a:t>
            </a:r>
            <a:r>
              <a:rPr dirty="0" sz="2250" spc="26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cont</a:t>
            </a:r>
            <a:r>
              <a:rPr dirty="0" sz="2250" spc="434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25">
                <a:solidFill>
                  <a:srgbClr val="D4D4D4"/>
                </a:solidFill>
                <a:latin typeface="Arial MT"/>
                <a:cs typeface="Arial MT"/>
              </a:rPr>
              <a:t>ol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10470" y="8607067"/>
            <a:ext cx="20083780" cy="419100"/>
          </a:xfrm>
          <a:custGeom>
            <a:avLst/>
            <a:gdLst/>
            <a:ahLst/>
            <a:cxnLst/>
            <a:rect l="l" t="t" r="r" b="b"/>
            <a:pathLst>
              <a:path w="20083780" h="419100">
                <a:moveTo>
                  <a:pt x="20083153" y="418835"/>
                </a:moveTo>
                <a:lnTo>
                  <a:pt x="0" y="418835"/>
                </a:lnTo>
                <a:lnTo>
                  <a:pt x="0" y="0"/>
                </a:lnTo>
                <a:lnTo>
                  <a:pt x="20083153" y="0"/>
                </a:lnTo>
                <a:lnTo>
                  <a:pt x="20083153" y="418835"/>
                </a:lnTo>
                <a:close/>
              </a:path>
            </a:pathLst>
          </a:custGeom>
          <a:solidFill>
            <a:srgbClr val="0F1A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2174463" y="8508565"/>
            <a:ext cx="3704590" cy="1921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25"/>
              </a:spcBef>
            </a:pPr>
            <a:r>
              <a:rPr dirty="0" sz="2300">
                <a:solidFill>
                  <a:srgbClr val="D1D1D1"/>
                </a:solidFill>
                <a:latin typeface="Arial MT"/>
                <a:cs typeface="Arial MT"/>
              </a:rPr>
              <a:t>T</a:t>
            </a:r>
            <a:r>
              <a:rPr dirty="0" sz="2300" spc="155">
                <a:solidFill>
                  <a:srgbClr val="D1D1D1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D4D4D4"/>
                </a:solidFill>
                <a:latin typeface="Arial MT"/>
                <a:cs typeface="Arial MT"/>
              </a:rPr>
              <a:t>ack</a:t>
            </a:r>
            <a:r>
              <a:rPr dirty="0" sz="2300" spc="6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D4D4D4"/>
                </a:solidFill>
                <a:latin typeface="Arial MT"/>
                <a:cs typeface="Arial MT"/>
              </a:rPr>
              <a:t>applica</a:t>
            </a:r>
            <a:r>
              <a:rPr dirty="0" sz="2300" spc="22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D4D4D4"/>
                </a:solidFill>
                <a:latin typeface="Arial MT"/>
                <a:cs typeface="Arial MT"/>
              </a:rPr>
              <a:t>ion</a:t>
            </a:r>
            <a:r>
              <a:rPr dirty="0" sz="2300" spc="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D4D4D4"/>
                </a:solidFill>
                <a:latin typeface="Arial MT"/>
                <a:cs typeface="Arial MT"/>
              </a:rPr>
              <a:t>s</a:t>
            </a:r>
            <a:r>
              <a:rPr dirty="0" sz="2300" spc="12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D4D4D4"/>
                </a:solidFill>
                <a:latin typeface="Arial MT"/>
                <a:cs typeface="Arial MT"/>
              </a:rPr>
              <a:t>a</a:t>
            </a:r>
            <a:r>
              <a:rPr dirty="0" sz="2300" spc="14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D4D4D4"/>
                </a:solidFill>
                <a:latin typeface="Arial MT"/>
                <a:cs typeface="Arial MT"/>
              </a:rPr>
              <a:t>us</a:t>
            </a:r>
            <a:r>
              <a:rPr dirty="0" sz="2300" spc="8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00" spc="-20">
                <a:solidFill>
                  <a:srgbClr val="D4D4D4"/>
                </a:solidFill>
                <a:latin typeface="Arial MT"/>
                <a:cs typeface="Arial MT"/>
              </a:rPr>
              <a:t>live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  <a:tabLst>
                <a:tab pos="1339850" algn="l"/>
              </a:tabLst>
            </a:pP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View</a:t>
            </a:r>
            <a:r>
              <a:rPr dirty="0" sz="2250" spc="16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20">
                <a:solidFill>
                  <a:srgbClr val="D4D4D4"/>
                </a:solidFill>
                <a:latin typeface="Arial MT"/>
                <a:cs typeface="Arial MT"/>
              </a:rPr>
              <a:t>inte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	view</a:t>
            </a:r>
            <a:r>
              <a:rPr dirty="0" sz="2250" spc="29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45">
                <a:solidFill>
                  <a:srgbClr val="D4D4D4"/>
                </a:solidFill>
                <a:latin typeface="Arial MT"/>
                <a:cs typeface="Arial MT"/>
              </a:rPr>
              <a:t>sc</a:t>
            </a:r>
            <a:r>
              <a:rPr dirty="0" sz="2250" spc="-31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D4D4D4"/>
                </a:solidFill>
                <a:latin typeface="Arial MT"/>
                <a:cs typeface="Arial MT"/>
              </a:rPr>
              <a:t>hedule</a:t>
            </a:r>
            <a:endParaRPr sz="225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1670"/>
              </a:spcBef>
            </a:pP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Build</a:t>
            </a:r>
            <a:r>
              <a:rPr dirty="0" sz="2250" spc="21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complete</a:t>
            </a:r>
            <a:r>
              <a:rPr dirty="0" sz="2250" spc="36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p</a:t>
            </a:r>
            <a:r>
              <a:rPr dirty="0" sz="2250" spc="33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D4D4D4"/>
                </a:solidFill>
                <a:latin typeface="Arial MT"/>
                <a:cs typeface="Arial MT"/>
              </a:rPr>
              <a:t>ofile</a:t>
            </a:r>
            <a:endParaRPr sz="2250">
              <a:latin typeface="Arial MT"/>
              <a:cs typeface="Arial MT"/>
            </a:endParaRPr>
          </a:p>
          <a:p>
            <a:pPr marL="117475">
              <a:lnSpc>
                <a:spcPct val="100000"/>
              </a:lnSpc>
              <a:spcBef>
                <a:spcPts val="450"/>
              </a:spcBef>
            </a:pPr>
            <a:r>
              <a:rPr dirty="0" sz="2400" spc="-10">
                <a:solidFill>
                  <a:srgbClr val="D4D4D4"/>
                </a:solidFill>
                <a:latin typeface="Arial MT"/>
                <a:cs typeface="Arial MT"/>
              </a:rPr>
              <a:t>esume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069358" y="7963788"/>
            <a:ext cx="3422015" cy="13519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Review</a:t>
            </a:r>
            <a:r>
              <a:rPr dirty="0" sz="2250" spc="31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candidate</a:t>
            </a:r>
            <a:r>
              <a:rPr dirty="0" sz="2250" spc="24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p</a:t>
            </a:r>
            <a:r>
              <a:rPr dirty="0" sz="2250" spc="27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D4D4D4"/>
                </a:solidFill>
                <a:latin typeface="Arial MT"/>
                <a:cs typeface="Arial MT"/>
              </a:rPr>
              <a:t>ofiles</a:t>
            </a:r>
            <a:endParaRPr sz="2250">
              <a:latin typeface="Arial MT"/>
              <a:cs typeface="Arial MT"/>
            </a:endParaRPr>
          </a:p>
          <a:p>
            <a:pPr marL="13970" marR="116205" indent="7620">
              <a:lnSpc>
                <a:spcPct val="125200"/>
              </a:lnSpc>
              <a:spcBef>
                <a:spcPts val="985"/>
              </a:spcBef>
              <a:tabLst>
                <a:tab pos="636905" algn="l"/>
                <a:tab pos="1374775" algn="l"/>
                <a:tab pos="2182495" algn="l"/>
                <a:tab pos="2538730" algn="l"/>
              </a:tabLst>
            </a:pPr>
            <a:r>
              <a:rPr dirty="0" sz="2250" spc="-25">
                <a:solidFill>
                  <a:srgbClr val="D4D4D4"/>
                </a:solidFill>
                <a:latin typeface="Arial MT"/>
                <a:cs typeface="Arial MT"/>
              </a:rPr>
              <a:t>Sho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	</a:t>
            </a:r>
            <a:r>
              <a:rPr dirty="0" sz="2250" spc="-20">
                <a:solidFill>
                  <a:srgbClr val="D4D4D4"/>
                </a:solidFill>
                <a:latin typeface="Arial MT"/>
                <a:cs typeface="Arial MT"/>
              </a:rPr>
              <a:t>tlist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	</a:t>
            </a:r>
            <a:r>
              <a:rPr dirty="0" sz="2250" spc="-10">
                <a:solidFill>
                  <a:srgbClr val="D4D4D4"/>
                </a:solidFill>
                <a:latin typeface="Arial MT"/>
                <a:cs typeface="Arial MT"/>
              </a:rPr>
              <a:t>eject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	</a:t>
            </a:r>
            <a:r>
              <a:rPr dirty="0" sz="2250" spc="-50">
                <a:solidFill>
                  <a:srgbClr val="D4D4D4"/>
                </a:solidFill>
                <a:latin typeface="Arial MT"/>
                <a:cs typeface="Arial MT"/>
              </a:rPr>
              <a:t>o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	</a:t>
            </a:r>
            <a:r>
              <a:rPr dirty="0" sz="2250" spc="-10">
                <a:solidFill>
                  <a:srgbClr val="D4D4D4"/>
                </a:solidFill>
                <a:latin typeface="Arial MT"/>
                <a:cs typeface="Arial MT"/>
              </a:rPr>
              <a:t>select 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applic</a:t>
            </a:r>
            <a:r>
              <a:rPr dirty="0" sz="2250" spc="-204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20">
                <a:solidFill>
                  <a:srgbClr val="D4D4D4"/>
                </a:solidFill>
                <a:latin typeface="Arial MT"/>
                <a:cs typeface="Arial MT"/>
              </a:rPr>
              <a:t>ants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3965335" y="7539862"/>
            <a:ext cx="3907790" cy="14846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253615" algn="l"/>
              </a:tabLst>
            </a:pP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Manage</a:t>
            </a:r>
            <a:r>
              <a:rPr dirty="0" sz="2250" spc="34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20">
                <a:solidFill>
                  <a:srgbClr val="D4D4D4"/>
                </a:solidFill>
                <a:latin typeface="Arial MT"/>
                <a:cs typeface="Arial MT"/>
              </a:rPr>
              <a:t>stu</a:t>
            </a:r>
            <a:r>
              <a:rPr dirty="0" sz="2250" spc="-39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25">
                <a:solidFill>
                  <a:srgbClr val="D4D4D4"/>
                </a:solidFill>
                <a:latin typeface="Arial MT"/>
                <a:cs typeface="Arial MT"/>
              </a:rPr>
              <a:t>den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	eligibili</a:t>
            </a:r>
            <a:r>
              <a:rPr dirty="0" sz="2250" spc="49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50">
                <a:solidFill>
                  <a:srgbClr val="D4D4D4"/>
                </a:solidFill>
                <a:latin typeface="Arial MT"/>
                <a:cs typeface="Arial MT"/>
              </a:rPr>
              <a:t>y</a:t>
            </a:r>
            <a:endParaRPr sz="2250">
              <a:latin typeface="Arial MT"/>
              <a:cs typeface="Arial MT"/>
            </a:endParaRPr>
          </a:p>
          <a:p>
            <a:pPr marL="22225">
              <a:lnSpc>
                <a:spcPct val="100000"/>
              </a:lnSpc>
              <a:spcBef>
                <a:spcPts val="1670"/>
              </a:spcBef>
              <a:tabLst>
                <a:tab pos="2222500" algn="l"/>
              </a:tabLst>
            </a:pP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View</a:t>
            </a:r>
            <a:r>
              <a:rPr dirty="0" sz="2250" spc="17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D4D4D4"/>
                </a:solidFill>
                <a:latin typeface="Arial MT"/>
                <a:cs typeface="Arial MT"/>
              </a:rPr>
              <a:t>placemen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	analytic</a:t>
            </a:r>
            <a:r>
              <a:rPr dirty="0" sz="2250" spc="-12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50">
                <a:solidFill>
                  <a:srgbClr val="D4D4D4"/>
                </a:solidFill>
                <a:latin typeface="Arial MT"/>
                <a:cs typeface="Arial MT"/>
              </a:rPr>
              <a:t>s</a:t>
            </a:r>
            <a:endParaRPr sz="225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  <a:spcBef>
                <a:spcPts val="1614"/>
              </a:spcBef>
              <a:tabLst>
                <a:tab pos="2108200" algn="l"/>
                <a:tab pos="3763010" algn="l"/>
              </a:tabLst>
            </a:pPr>
            <a:r>
              <a:rPr dirty="0" sz="2300">
                <a:solidFill>
                  <a:srgbClr val="D4D4D4"/>
                </a:solidFill>
                <a:latin typeface="Arial MT"/>
                <a:cs typeface="Arial MT"/>
              </a:rPr>
              <a:t>Company-</a:t>
            </a:r>
            <a:r>
              <a:rPr dirty="0" sz="2300" spc="-20">
                <a:solidFill>
                  <a:srgbClr val="D4D4D4"/>
                </a:solidFill>
                <a:latin typeface="Arial MT"/>
                <a:cs typeface="Arial MT"/>
              </a:rPr>
              <a:t>wise</a:t>
            </a:r>
            <a:r>
              <a:rPr dirty="0" sz="2300">
                <a:solidFill>
                  <a:srgbClr val="D4D4D4"/>
                </a:solidFill>
                <a:latin typeface="Arial MT"/>
                <a:cs typeface="Arial MT"/>
              </a:rPr>
              <a:t>	s</a:t>
            </a:r>
            <a:r>
              <a:rPr dirty="0" sz="2300" spc="1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D4D4D4"/>
                </a:solidFill>
                <a:latin typeface="Arial MT"/>
                <a:cs typeface="Arial MT"/>
              </a:rPr>
              <a:t>a</a:t>
            </a:r>
            <a:r>
              <a:rPr dirty="0" sz="2300" spc="9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D4D4D4"/>
                </a:solidFill>
                <a:latin typeface="Arial MT"/>
                <a:cs typeface="Arial MT"/>
              </a:rPr>
              <a:t>s</a:t>
            </a:r>
            <a:r>
              <a:rPr dirty="0" sz="2300" spc="-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00" spc="-295">
                <a:solidFill>
                  <a:srgbClr val="D4D4D4"/>
                </a:solidFill>
                <a:latin typeface="Arial MT"/>
                <a:cs typeface="Arial MT"/>
              </a:rPr>
              <a:t>&amp;</a:t>
            </a:r>
            <a:r>
              <a:rPr dirty="0" sz="2300" spc="13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D4D4D4"/>
                </a:solidFill>
                <a:latin typeface="Arial MT"/>
                <a:cs typeface="Arial MT"/>
              </a:rPr>
              <a:t>cha</a:t>
            </a:r>
            <a:r>
              <a:rPr dirty="0" sz="2300">
                <a:solidFill>
                  <a:srgbClr val="D4D4D4"/>
                </a:solidFill>
                <a:latin typeface="Arial MT"/>
                <a:cs typeface="Arial MT"/>
              </a:rPr>
              <a:t>	</a:t>
            </a:r>
            <a:r>
              <a:rPr dirty="0" sz="2300" spc="-60">
                <a:solidFill>
                  <a:srgbClr val="D4D4D4"/>
                </a:solidFill>
                <a:latin typeface="Arial MT"/>
                <a:cs typeface="Arial MT"/>
              </a:rPr>
              <a:t>s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10470" y="10544181"/>
            <a:ext cx="20083780" cy="304165"/>
            <a:chOff x="10470" y="10544181"/>
            <a:chExt cx="20083780" cy="304165"/>
          </a:xfrm>
        </p:grpSpPr>
        <p:pic>
          <p:nvPicPr>
            <p:cNvPr id="35" name="object 3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04160" y="10554652"/>
              <a:ext cx="1183210" cy="167534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10470" y="10544181"/>
              <a:ext cx="20083780" cy="304165"/>
            </a:xfrm>
            <a:custGeom>
              <a:avLst/>
              <a:gdLst/>
              <a:ahLst/>
              <a:cxnLst/>
              <a:rect l="l" t="t" r="r" b="b"/>
              <a:pathLst>
                <a:path w="20083780" h="304165">
                  <a:moveTo>
                    <a:pt x="20083153" y="303655"/>
                  </a:moveTo>
                  <a:lnTo>
                    <a:pt x="0" y="303655"/>
                  </a:lnTo>
                  <a:lnTo>
                    <a:pt x="0" y="0"/>
                  </a:lnTo>
                  <a:lnTo>
                    <a:pt x="20083153" y="0"/>
                  </a:lnTo>
                  <a:lnTo>
                    <a:pt x="20083153" y="303655"/>
                  </a:lnTo>
                  <a:close/>
                </a:path>
              </a:pathLst>
            </a:custGeom>
            <a:solidFill>
              <a:srgbClr val="0F18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/>
          <p:nvPr/>
        </p:nvSpPr>
        <p:spPr>
          <a:xfrm>
            <a:off x="10470" y="10994429"/>
            <a:ext cx="20083780" cy="220345"/>
          </a:xfrm>
          <a:custGeom>
            <a:avLst/>
            <a:gdLst/>
            <a:ahLst/>
            <a:cxnLst/>
            <a:rect l="l" t="t" r="r" b="b"/>
            <a:pathLst>
              <a:path w="20083780" h="220345">
                <a:moveTo>
                  <a:pt x="20083153" y="219888"/>
                </a:moveTo>
                <a:lnTo>
                  <a:pt x="0" y="219888"/>
                </a:lnTo>
                <a:lnTo>
                  <a:pt x="0" y="0"/>
                </a:lnTo>
                <a:lnTo>
                  <a:pt x="20083153" y="0"/>
                </a:lnTo>
                <a:lnTo>
                  <a:pt x="20083153" y="219888"/>
                </a:lnTo>
                <a:close/>
              </a:path>
            </a:pathLst>
          </a:custGeom>
          <a:solidFill>
            <a:srgbClr val="0F18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8069475" y="9426221"/>
            <a:ext cx="2822575" cy="1846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143510" indent="6985">
              <a:lnSpc>
                <a:spcPct val="122100"/>
              </a:lnSpc>
              <a:spcBef>
                <a:spcPts val="100"/>
              </a:spcBef>
              <a:tabLst>
                <a:tab pos="1936750" algn="l"/>
              </a:tabLst>
            </a:pPr>
            <a:r>
              <a:rPr dirty="0" sz="2250" spc="-135">
                <a:solidFill>
                  <a:srgbClr val="D4D4D4"/>
                </a:solidFill>
                <a:latin typeface="Arial MT"/>
                <a:cs typeface="Arial MT"/>
              </a:rPr>
              <a:t>Sc</a:t>
            </a:r>
            <a:r>
              <a:rPr dirty="0" sz="2250" spc="-33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hedule</a:t>
            </a:r>
            <a:r>
              <a:rPr dirty="0" sz="2250" spc="20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20">
                <a:solidFill>
                  <a:srgbClr val="D4D4D4"/>
                </a:solidFill>
                <a:latin typeface="Arial MT"/>
                <a:cs typeface="Arial MT"/>
              </a:rPr>
              <a:t>inte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	</a:t>
            </a:r>
            <a:r>
              <a:rPr dirty="0" sz="2250" spc="-10">
                <a:solidFill>
                  <a:srgbClr val="D4D4D4"/>
                </a:solidFill>
                <a:latin typeface="Arial MT"/>
                <a:cs typeface="Arial MT"/>
              </a:rPr>
              <a:t>views </a:t>
            </a:r>
            <a:r>
              <a:rPr dirty="0" sz="2250">
                <a:solidFill>
                  <a:srgbClr val="D4D4D4"/>
                </a:solidFill>
                <a:latin typeface="Arial MT"/>
                <a:cs typeface="Arial MT"/>
              </a:rPr>
              <a:t>online</a:t>
            </a:r>
            <a:r>
              <a:rPr dirty="0" sz="2250" spc="47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50" spc="-10">
                <a:solidFill>
                  <a:srgbClr val="D4D4D4"/>
                </a:solidFill>
                <a:latin typeface="Arial MT"/>
                <a:cs typeface="Arial MT"/>
              </a:rPr>
              <a:t>offline</a:t>
            </a:r>
            <a:endParaRPr sz="2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  <a:tabLst>
                <a:tab pos="599440" algn="l"/>
              </a:tabLst>
            </a:pPr>
            <a:r>
              <a:rPr dirty="0" sz="2350" spc="-25">
                <a:solidFill>
                  <a:srgbClr val="D4D4D4"/>
                </a:solidFill>
                <a:latin typeface="Arial MT"/>
                <a:cs typeface="Arial MT"/>
              </a:rPr>
              <a:t>Ma</a:t>
            </a:r>
            <a:r>
              <a:rPr dirty="0" sz="2350">
                <a:solidFill>
                  <a:srgbClr val="D4D4D4"/>
                </a:solidFill>
                <a:latin typeface="Arial MT"/>
                <a:cs typeface="Arial MT"/>
              </a:rPr>
              <a:t>	</a:t>
            </a:r>
            <a:r>
              <a:rPr dirty="0" sz="2350" spc="-385">
                <a:solidFill>
                  <a:srgbClr val="D4D4D4"/>
                </a:solidFill>
                <a:latin typeface="Arial MT"/>
                <a:cs typeface="Arial MT"/>
              </a:rPr>
              <a:t>a</a:t>
            </a:r>
            <a:r>
              <a:rPr dirty="0" sz="2350" spc="-34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D4D4D4"/>
                </a:solidFill>
                <a:latin typeface="Arial MT"/>
                <a:cs typeface="Arial MT"/>
              </a:rPr>
              <a:t>ge</a:t>
            </a:r>
            <a:r>
              <a:rPr dirty="0" sz="2350" spc="-14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D4D4D4"/>
                </a:solidFill>
                <a:latin typeface="Arial MT"/>
                <a:cs typeface="Arial MT"/>
              </a:rPr>
              <a:t>all</a:t>
            </a:r>
            <a:r>
              <a:rPr dirty="0" sz="2350" spc="-4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D4D4D4"/>
                </a:solidFill>
                <a:latin typeface="Arial MT"/>
                <a:cs typeface="Arial MT"/>
              </a:rPr>
              <a:t>pos</a:t>
            </a:r>
            <a:r>
              <a:rPr dirty="0" sz="2350" spc="6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50" spc="-40">
                <a:solidFill>
                  <a:srgbClr val="D4D4D4"/>
                </a:solidFill>
                <a:latin typeface="Arial MT"/>
                <a:cs typeface="Arial MT"/>
              </a:rPr>
              <a:t>ing</a:t>
            </a:r>
            <a:r>
              <a:rPr dirty="0" sz="2350" spc="-41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D4D4D4"/>
                </a:solidFill>
                <a:latin typeface="Arial MT"/>
                <a:cs typeface="Arial MT"/>
              </a:rPr>
              <a:t>s</a:t>
            </a:r>
            <a:r>
              <a:rPr dirty="0" sz="2350" spc="-3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350" spc="-50">
                <a:solidFill>
                  <a:srgbClr val="D4D4D4"/>
                </a:solidFill>
                <a:latin typeface="Arial MT"/>
                <a:cs typeface="Arial MT"/>
              </a:rPr>
              <a:t>i</a:t>
            </a:r>
            <a:endParaRPr sz="235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710"/>
              </a:spcBef>
              <a:tabLst>
                <a:tab pos="1271270" algn="l"/>
              </a:tabLst>
            </a:pPr>
            <a:r>
              <a:rPr dirty="0" sz="2200">
                <a:solidFill>
                  <a:srgbClr val="D4D4D4"/>
                </a:solidFill>
                <a:latin typeface="Arial MT"/>
                <a:cs typeface="Arial MT"/>
              </a:rPr>
              <a:t>dash</a:t>
            </a:r>
            <a:r>
              <a:rPr dirty="0" sz="2200" spc="-28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D4D4D4"/>
                </a:solidFill>
                <a:latin typeface="Arial MT"/>
                <a:cs typeface="Arial MT"/>
              </a:rPr>
              <a:t>boa</a:t>
            </a:r>
            <a:r>
              <a:rPr dirty="0" sz="2200">
                <a:solidFill>
                  <a:srgbClr val="D4D4D4"/>
                </a:solidFill>
                <a:latin typeface="Arial MT"/>
                <a:cs typeface="Arial MT"/>
              </a:rPr>
              <a:t>	</a:t>
            </a:r>
            <a:r>
              <a:rPr dirty="0" sz="2200" spc="-50">
                <a:solidFill>
                  <a:srgbClr val="D4D4D4"/>
                </a:solidFill>
                <a:latin typeface="Arial MT"/>
                <a:cs typeface="Arial MT"/>
              </a:rPr>
              <a:t>d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03914" y="621925"/>
            <a:ext cx="2335530" cy="16579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742950" algn="l"/>
              </a:tabLst>
            </a:pPr>
            <a:r>
              <a:rPr dirty="0" sz="1900" spc="-95">
                <a:solidFill>
                  <a:srgbClr val="3B82F6"/>
                </a:solidFill>
                <a:latin typeface="Arial MT"/>
                <a:cs typeface="Arial MT"/>
              </a:rPr>
              <a:t>K</a:t>
            </a:r>
            <a:r>
              <a:rPr dirty="0" sz="1900" spc="-70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1900" spc="-170">
                <a:solidFill>
                  <a:srgbClr val="3B82F6"/>
                </a:solidFill>
                <a:latin typeface="Arial MT"/>
                <a:cs typeface="Arial MT"/>
              </a:rPr>
              <a:t>E</a:t>
            </a:r>
            <a:r>
              <a:rPr dirty="0" sz="1900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1900" spc="-50">
                <a:solidFill>
                  <a:srgbClr val="3B82F6"/>
                </a:solidFill>
                <a:latin typeface="Arial MT"/>
                <a:cs typeface="Arial MT"/>
              </a:rPr>
              <a:t>Y</a:t>
            </a:r>
            <a:r>
              <a:rPr dirty="0" sz="1900">
                <a:solidFill>
                  <a:srgbClr val="3B82F6"/>
                </a:solidFill>
                <a:latin typeface="Arial MT"/>
                <a:cs typeface="Arial MT"/>
              </a:rPr>
              <a:t>	</a:t>
            </a:r>
            <a:r>
              <a:rPr dirty="0" sz="1900" spc="-40">
                <a:solidFill>
                  <a:srgbClr val="3B82F6"/>
                </a:solidFill>
                <a:latin typeface="Arial MT"/>
                <a:cs typeface="Arial MT"/>
              </a:rPr>
              <a:t>F</a:t>
            </a:r>
            <a:r>
              <a:rPr dirty="0" sz="1900" spc="-170">
                <a:solidFill>
                  <a:srgbClr val="3B82F6"/>
                </a:solidFill>
                <a:latin typeface="Arial MT"/>
                <a:cs typeface="Arial MT"/>
              </a:rPr>
              <a:t> E</a:t>
            </a:r>
            <a:r>
              <a:rPr dirty="0" sz="1900" spc="5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1900" spc="-70">
                <a:solidFill>
                  <a:srgbClr val="3B82F6"/>
                </a:solidFill>
                <a:latin typeface="Arial MT"/>
                <a:cs typeface="Arial MT"/>
              </a:rPr>
              <a:t>A</a:t>
            </a:r>
            <a:r>
              <a:rPr dirty="0" sz="1900" spc="-135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1900" spc="-130">
                <a:solidFill>
                  <a:srgbClr val="3B82F6"/>
                </a:solidFill>
                <a:latin typeface="Arial MT"/>
                <a:cs typeface="Arial MT"/>
              </a:rPr>
              <a:t>T</a:t>
            </a:r>
            <a:r>
              <a:rPr dirty="0" sz="1900" spc="-35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3B82F6"/>
                </a:solidFill>
                <a:latin typeface="Arial MT"/>
                <a:cs typeface="Arial MT"/>
              </a:rPr>
              <a:t>U</a:t>
            </a:r>
            <a:r>
              <a:rPr dirty="0" sz="1900" spc="-70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1900" spc="-275">
                <a:solidFill>
                  <a:srgbClr val="3B82F6"/>
                </a:solidFill>
                <a:latin typeface="Arial MT"/>
                <a:cs typeface="Arial MT"/>
              </a:rPr>
              <a:t>R</a:t>
            </a:r>
            <a:r>
              <a:rPr dirty="0" sz="1900" spc="-75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1900" spc="-170">
                <a:solidFill>
                  <a:srgbClr val="3B82F6"/>
                </a:solidFill>
                <a:latin typeface="Arial MT"/>
                <a:cs typeface="Arial MT"/>
              </a:rPr>
              <a:t>E</a:t>
            </a:r>
            <a:r>
              <a:rPr dirty="0" sz="1900" spc="-85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1900" spc="-50">
                <a:solidFill>
                  <a:srgbClr val="3B82F6"/>
                </a:solidFill>
                <a:latin typeface="Arial MT"/>
                <a:cs typeface="Arial MT"/>
              </a:rPr>
              <a:t>S</a:t>
            </a:r>
            <a:endParaRPr sz="1900">
              <a:latin typeface="Arial MT"/>
              <a:cs typeface="Arial MT"/>
            </a:endParaRPr>
          </a:p>
          <a:p>
            <a:pPr marL="455295">
              <a:lnSpc>
                <a:spcPct val="100000"/>
              </a:lnSpc>
              <a:spcBef>
                <a:spcPts val="1689"/>
              </a:spcBef>
            </a:pPr>
            <a:r>
              <a:rPr dirty="0" sz="7000" spc="-25">
                <a:solidFill>
                  <a:srgbClr val="161616"/>
                </a:solidFill>
                <a:latin typeface="Calibri"/>
                <a:cs typeface="Calibri"/>
              </a:rPr>
              <a:t>ve</a:t>
            </a:r>
            <a:endParaRPr sz="7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51728" y="1134589"/>
            <a:ext cx="6146800" cy="2201545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807085">
              <a:lnSpc>
                <a:spcPts val="8345"/>
              </a:lnSpc>
              <a:spcBef>
                <a:spcPts val="115"/>
              </a:spcBef>
            </a:pPr>
            <a:r>
              <a:rPr dirty="0" sz="7400" spc="-355">
                <a:solidFill>
                  <a:srgbClr val="161616"/>
                </a:solidFill>
              </a:rPr>
              <a:t>acemen</a:t>
            </a:r>
            <a:r>
              <a:rPr dirty="0" sz="7400" spc="350">
                <a:solidFill>
                  <a:srgbClr val="161616"/>
                </a:solidFill>
              </a:rPr>
              <a:t> </a:t>
            </a:r>
            <a:r>
              <a:rPr dirty="0" sz="7400" spc="-165">
                <a:solidFill>
                  <a:srgbClr val="161616"/>
                </a:solidFill>
              </a:rPr>
              <a:t>snee</a:t>
            </a:r>
            <a:endParaRPr sz="7400"/>
          </a:p>
          <a:p>
            <a:pPr marL="12700">
              <a:lnSpc>
                <a:spcPts val="8765"/>
              </a:lnSpc>
            </a:pPr>
            <a:r>
              <a:rPr dirty="0" sz="7750" spc="-380">
                <a:solidFill>
                  <a:srgbClr val="3B82F6"/>
                </a:solidFill>
              </a:rPr>
              <a:t>orm.</a:t>
            </a:r>
            <a:endParaRPr sz="7750"/>
          </a:p>
        </p:txBody>
      </p:sp>
      <p:sp>
        <p:nvSpPr>
          <p:cNvPr id="4" name="object 4" descr=""/>
          <p:cNvSpPr txBox="1"/>
          <p:nvPr/>
        </p:nvSpPr>
        <p:spPr>
          <a:xfrm>
            <a:off x="2098355" y="4434227"/>
            <a:ext cx="247015" cy="551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50" spc="-125">
                <a:solidFill>
                  <a:srgbClr val="3B82F6"/>
                </a:solidFill>
                <a:latin typeface="Arial MT"/>
                <a:cs typeface="Arial MT"/>
              </a:rPr>
              <a:t>o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067017" y="4033462"/>
            <a:ext cx="6061710" cy="2738755"/>
          </a:xfrm>
          <a:prstGeom prst="rect">
            <a:avLst/>
          </a:prstGeom>
        </p:spPr>
        <p:txBody>
          <a:bodyPr wrap="square" lIns="0" tIns="266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dirty="0" sz="3450" spc="-20">
                <a:solidFill>
                  <a:srgbClr val="1A1A1A"/>
                </a:solidFill>
                <a:latin typeface="Arial MT"/>
                <a:cs typeface="Arial MT"/>
              </a:rPr>
              <a:t>Smart</a:t>
            </a:r>
            <a:r>
              <a:rPr dirty="0" sz="3450" spc="-1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3450" spc="-85">
                <a:solidFill>
                  <a:srgbClr val="1A1A1A"/>
                </a:solidFill>
                <a:latin typeface="Arial MT"/>
                <a:cs typeface="Arial MT"/>
              </a:rPr>
              <a:t>Job</a:t>
            </a:r>
            <a:r>
              <a:rPr dirty="0" sz="3450" spc="-3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3450" spc="-10">
                <a:solidFill>
                  <a:srgbClr val="1A1A1A"/>
                </a:solidFill>
                <a:latin typeface="Arial MT"/>
                <a:cs typeface="Arial MT"/>
              </a:rPr>
              <a:t>Discovery</a:t>
            </a:r>
            <a:endParaRPr sz="3450">
              <a:latin typeface="Arial MT"/>
              <a:cs typeface="Arial MT"/>
            </a:endParaRPr>
          </a:p>
          <a:p>
            <a:pPr marL="15875" marR="5080">
              <a:lnSpc>
                <a:spcPct val="122500"/>
              </a:lnSpc>
              <a:spcBef>
                <a:spcPts val="815"/>
              </a:spcBef>
              <a:tabLst>
                <a:tab pos="4333240" algn="l"/>
              </a:tabLst>
            </a:pPr>
            <a:r>
              <a:rPr dirty="0" sz="2450" spc="-25">
                <a:solidFill>
                  <a:srgbClr val="62748E"/>
                </a:solidFill>
                <a:latin typeface="Arial MT"/>
                <a:cs typeface="Arial MT"/>
              </a:rPr>
              <a:t>Filter</a:t>
            </a:r>
            <a:r>
              <a:rPr dirty="0" sz="2450" spc="-15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62748E"/>
                </a:solidFill>
                <a:latin typeface="Arial MT"/>
                <a:cs typeface="Arial MT"/>
              </a:rPr>
              <a:t>by</a:t>
            </a:r>
            <a:r>
              <a:rPr dirty="0" sz="2450" spc="-16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50">
                <a:solidFill>
                  <a:srgbClr val="62748E"/>
                </a:solidFill>
                <a:latin typeface="Arial MT"/>
                <a:cs typeface="Arial MT"/>
              </a:rPr>
              <a:t>domain</a:t>
            </a:r>
            <a:r>
              <a:rPr dirty="0" sz="2450" spc="5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105">
                <a:solidFill>
                  <a:srgbClr val="62748E"/>
                </a:solidFill>
                <a:latin typeface="Arial MT"/>
                <a:cs typeface="Arial MT"/>
              </a:rPr>
              <a:t>(IT,</a:t>
            </a:r>
            <a:r>
              <a:rPr dirty="0" sz="2450" spc="-6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95">
                <a:solidFill>
                  <a:srgbClr val="62748E"/>
                </a:solidFill>
                <a:latin typeface="Arial MT"/>
                <a:cs typeface="Arial MT"/>
              </a:rPr>
              <a:t>Data</a:t>
            </a:r>
            <a:r>
              <a:rPr dirty="0" sz="2450" spc="-2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315">
                <a:solidFill>
                  <a:srgbClr val="62748E"/>
                </a:solidFill>
                <a:latin typeface="Arial MT"/>
                <a:cs typeface="Arial MT"/>
              </a:rPr>
              <a:t>&amp;</a:t>
            </a:r>
            <a:r>
              <a:rPr dirty="0" sz="2450" spc="6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100">
                <a:solidFill>
                  <a:srgbClr val="62748E"/>
                </a:solidFill>
                <a:latin typeface="Arial MT"/>
                <a:cs typeface="Arial MT"/>
              </a:rPr>
              <a:t>AI,</a:t>
            </a:r>
            <a:r>
              <a:rPr dirty="0" sz="2450" spc="-7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40">
                <a:solidFill>
                  <a:srgbClr val="627490"/>
                </a:solidFill>
                <a:latin typeface="Arial MT"/>
                <a:cs typeface="Arial MT"/>
              </a:rPr>
              <a:t>Fintech),</a:t>
            </a:r>
            <a:r>
              <a:rPr dirty="0" sz="2450" spc="30">
                <a:solidFill>
                  <a:srgbClr val="627490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62748E"/>
                </a:solidFill>
                <a:latin typeface="Arial MT"/>
                <a:cs typeface="Arial MT"/>
              </a:rPr>
              <a:t>job </a:t>
            </a:r>
            <a:r>
              <a:rPr dirty="0" sz="2450">
                <a:solidFill>
                  <a:srgbClr val="62748E"/>
                </a:solidFill>
                <a:latin typeface="Arial MT"/>
                <a:cs typeface="Arial MT"/>
              </a:rPr>
              <a:t>type</a:t>
            </a:r>
            <a:r>
              <a:rPr dirty="0" sz="2450" spc="-5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35">
                <a:solidFill>
                  <a:srgbClr val="6691CD"/>
                </a:solidFill>
                <a:latin typeface="Arial MT"/>
                <a:cs typeface="Arial MT"/>
              </a:rPr>
              <a:t>(full-</a:t>
            </a:r>
            <a:r>
              <a:rPr dirty="0" sz="2450">
                <a:solidFill>
                  <a:srgbClr val="6691CD"/>
                </a:solidFill>
                <a:latin typeface="Arial MT"/>
                <a:cs typeface="Arial MT"/>
              </a:rPr>
              <a:t>time,</a:t>
            </a:r>
            <a:r>
              <a:rPr dirty="0" sz="2450" spc="40">
                <a:solidFill>
                  <a:srgbClr val="6691CD"/>
                </a:solidFill>
                <a:latin typeface="Arial MT"/>
                <a:cs typeface="Arial MT"/>
              </a:rPr>
              <a:t> </a:t>
            </a:r>
            <a:r>
              <a:rPr dirty="0" sz="2450" spc="-35">
                <a:solidFill>
                  <a:srgbClr val="62749C"/>
                </a:solidFill>
                <a:latin typeface="Arial MT"/>
                <a:cs typeface="Arial MT"/>
              </a:rPr>
              <a:t>internship),</a:t>
            </a:r>
            <a:r>
              <a:rPr dirty="0" sz="2450" spc="30">
                <a:solidFill>
                  <a:srgbClr val="62749C"/>
                </a:solidFill>
                <a:latin typeface="Arial MT"/>
                <a:cs typeface="Arial MT"/>
              </a:rPr>
              <a:t> </a:t>
            </a:r>
            <a:r>
              <a:rPr dirty="0" sz="2450" spc="-45">
                <a:solidFill>
                  <a:srgbClr val="62748E"/>
                </a:solidFill>
                <a:latin typeface="Arial MT"/>
                <a:cs typeface="Arial MT"/>
              </a:rPr>
              <a:t>salary</a:t>
            </a:r>
            <a:r>
              <a:rPr dirty="0" sz="2450" spc="2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45">
                <a:solidFill>
                  <a:srgbClr val="6280B1"/>
                </a:solidFill>
                <a:latin typeface="Arial MT"/>
                <a:cs typeface="Arial MT"/>
              </a:rPr>
              <a:t>ranpe,</a:t>
            </a:r>
            <a:r>
              <a:rPr dirty="0" sz="2450" spc="-10">
                <a:solidFill>
                  <a:srgbClr val="6280B1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62748E"/>
                </a:solidFill>
                <a:latin typeface="Arial MT"/>
                <a:cs typeface="Arial MT"/>
              </a:rPr>
              <a:t>and </a:t>
            </a:r>
            <a:r>
              <a:rPr dirty="0" sz="2450" spc="-20">
                <a:solidFill>
                  <a:srgbClr val="62749C"/>
                </a:solidFill>
                <a:latin typeface="Arial MT"/>
                <a:cs typeface="Arial MT"/>
              </a:rPr>
              <a:t>location.</a:t>
            </a:r>
            <a:r>
              <a:rPr dirty="0" sz="2450" spc="-114">
                <a:solidFill>
                  <a:srgbClr val="62749C"/>
                </a:solidFill>
                <a:latin typeface="Arial MT"/>
                <a:cs typeface="Arial MT"/>
              </a:rPr>
              <a:t> </a:t>
            </a:r>
            <a:r>
              <a:rPr dirty="0" sz="2450" spc="-275">
                <a:solidFill>
                  <a:srgbClr val="62748E"/>
                </a:solidFill>
                <a:latin typeface="Arial MT"/>
                <a:cs typeface="Arial MT"/>
              </a:rPr>
              <a:t>21</a:t>
            </a:r>
            <a:r>
              <a:rPr dirty="0" sz="2450" spc="-6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6280B1"/>
                </a:solidFill>
                <a:latin typeface="Arial MT"/>
                <a:cs typeface="Arial MT"/>
              </a:rPr>
              <a:t>live</a:t>
            </a:r>
            <a:r>
              <a:rPr dirty="0" sz="2450" spc="-120">
                <a:solidFill>
                  <a:srgbClr val="6280B1"/>
                </a:solidFill>
                <a:latin typeface="Arial MT"/>
                <a:cs typeface="Arial MT"/>
              </a:rPr>
              <a:t> </a:t>
            </a:r>
            <a:r>
              <a:rPr dirty="0" sz="2450" spc="-50">
                <a:solidFill>
                  <a:srgbClr val="6274A3"/>
                </a:solidFill>
                <a:latin typeface="Arial MT"/>
                <a:cs typeface="Arial MT"/>
              </a:rPr>
              <a:t>Indian</a:t>
            </a:r>
            <a:r>
              <a:rPr dirty="0" sz="2450" spc="25">
                <a:solidFill>
                  <a:srgbClr val="6274A3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62748E"/>
                </a:solidFill>
                <a:latin typeface="Arial MT"/>
                <a:cs typeface="Arial MT"/>
              </a:rPr>
              <a:t>company</a:t>
            </a:r>
            <a:r>
              <a:rPr dirty="0" sz="2450">
                <a:solidFill>
                  <a:srgbClr val="62748E"/>
                </a:solidFill>
                <a:latin typeface="Arial MT"/>
                <a:cs typeface="Arial MT"/>
              </a:rPr>
              <a:t>	</a:t>
            </a:r>
            <a:r>
              <a:rPr dirty="0" sz="2450" spc="-45">
                <a:solidFill>
                  <a:srgbClr val="62748E"/>
                </a:solidFill>
                <a:latin typeface="Arial MT"/>
                <a:cs typeface="Arial MT"/>
              </a:rPr>
              <a:t>jobs</a:t>
            </a:r>
            <a:r>
              <a:rPr dirty="0" sz="2450" spc="-12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35">
                <a:solidFill>
                  <a:srgbClr val="62749C"/>
                </a:solidFill>
                <a:latin typeface="Arial MT"/>
                <a:cs typeface="Arial MT"/>
              </a:rPr>
              <a:t>ready</a:t>
            </a:r>
            <a:r>
              <a:rPr dirty="0" sz="2450" spc="-80">
                <a:solidFill>
                  <a:srgbClr val="62749C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62748E"/>
                </a:solidFill>
                <a:latin typeface="Arial MT"/>
                <a:cs typeface="Arial MT"/>
              </a:rPr>
              <a:t>to </a:t>
            </a:r>
            <a:r>
              <a:rPr dirty="0" sz="2450" spc="-10">
                <a:solidFill>
                  <a:srgbClr val="62748E"/>
                </a:solidFill>
                <a:latin typeface="Arial MT"/>
                <a:cs typeface="Arial MT"/>
              </a:rPr>
              <a:t>apply.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059175" y="8066301"/>
            <a:ext cx="6206490" cy="2672080"/>
          </a:xfrm>
          <a:prstGeom prst="rect">
            <a:avLst/>
          </a:prstGeom>
        </p:spPr>
        <p:txBody>
          <a:bodyPr wrap="square" lIns="0" tIns="243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3200" spc="165">
                <a:solidFill>
                  <a:srgbClr val="1A1A1A"/>
                </a:solidFill>
                <a:latin typeface="Arial MT"/>
                <a:cs typeface="Arial MT"/>
              </a:rPr>
              <a:t>Interview</a:t>
            </a:r>
            <a:r>
              <a:rPr dirty="0" sz="3200" spc="-9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3200" spc="110">
                <a:solidFill>
                  <a:srgbClr val="1A1A1A"/>
                </a:solidFill>
                <a:latin typeface="Arial MT"/>
                <a:cs typeface="Arial MT"/>
              </a:rPr>
              <a:t>Scheduling</a:t>
            </a:r>
            <a:endParaRPr sz="3200">
              <a:latin typeface="Arial MT"/>
              <a:cs typeface="Arial MT"/>
            </a:endParaRPr>
          </a:p>
          <a:p>
            <a:pPr marL="29209" marR="5080" indent="-4445">
              <a:lnSpc>
                <a:spcPct val="122200"/>
              </a:lnSpc>
              <a:spcBef>
                <a:spcPts val="795"/>
              </a:spcBef>
              <a:tabLst>
                <a:tab pos="1464945" algn="l"/>
              </a:tabLst>
            </a:pPr>
            <a:r>
              <a:rPr dirty="0" sz="2450" spc="-10">
                <a:solidFill>
                  <a:srgbClr val="62748E"/>
                </a:solidFill>
                <a:latin typeface="Arial MT"/>
                <a:cs typeface="Arial MT"/>
              </a:rPr>
              <a:t>Recruiters</a:t>
            </a:r>
            <a:r>
              <a:rPr dirty="0" sz="2450">
                <a:solidFill>
                  <a:srgbClr val="62748E"/>
                </a:solidFill>
                <a:latin typeface="Arial MT"/>
                <a:cs typeface="Arial MT"/>
              </a:rPr>
              <a:t>	</a:t>
            </a:r>
            <a:r>
              <a:rPr dirty="0" sz="2450" spc="-45">
                <a:solidFill>
                  <a:srgbClr val="62748E"/>
                </a:solidFill>
                <a:latin typeface="Arial MT"/>
                <a:cs typeface="Arial MT"/>
              </a:rPr>
              <a:t>schedule</a:t>
            </a:r>
            <a:r>
              <a:rPr dirty="0" sz="2450" spc="-6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40">
                <a:solidFill>
                  <a:srgbClr val="62748E"/>
                </a:solidFill>
                <a:latin typeface="Arial MT"/>
                <a:cs typeface="Arial MT"/>
              </a:rPr>
              <a:t>online,</a:t>
            </a:r>
            <a:r>
              <a:rPr dirty="0" sz="2450" spc="-7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62748E"/>
                </a:solidFill>
                <a:latin typeface="Arial MT"/>
                <a:cs typeface="Arial MT"/>
              </a:rPr>
              <a:t>offline,</a:t>
            </a:r>
            <a:r>
              <a:rPr dirty="0" sz="2450" spc="-10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62748E"/>
                </a:solidFill>
                <a:latin typeface="Arial MT"/>
                <a:cs typeface="Arial MT"/>
              </a:rPr>
              <a:t>or</a:t>
            </a:r>
            <a:r>
              <a:rPr dirty="0" sz="2450" spc="-16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62748E"/>
                </a:solidFill>
                <a:latin typeface="Arial MT"/>
                <a:cs typeface="Arial MT"/>
              </a:rPr>
              <a:t>phone </a:t>
            </a:r>
            <a:r>
              <a:rPr dirty="0" sz="2450" spc="-30">
                <a:solidFill>
                  <a:srgbClr val="62749C"/>
                </a:solidFill>
                <a:latin typeface="Arial MT"/>
                <a:cs typeface="Arial MT"/>
              </a:rPr>
              <a:t>interviews</a:t>
            </a:r>
            <a:r>
              <a:rPr dirty="0" sz="2450" spc="10">
                <a:solidFill>
                  <a:srgbClr val="62749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62748E"/>
                </a:solidFill>
                <a:latin typeface="Arial MT"/>
                <a:cs typeface="Arial MT"/>
              </a:rPr>
              <a:t>directly</a:t>
            </a:r>
            <a:r>
              <a:rPr dirty="0" sz="2450" spc="-2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90">
                <a:solidFill>
                  <a:srgbClr val="62748E"/>
                </a:solidFill>
                <a:latin typeface="Arial MT"/>
                <a:cs typeface="Arial MT"/>
              </a:rPr>
              <a:t>on</a:t>
            </a:r>
            <a:r>
              <a:rPr dirty="0" sz="2450" spc="-7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62748E"/>
                </a:solidFill>
                <a:latin typeface="Arial MT"/>
                <a:cs typeface="Arial MT"/>
              </a:rPr>
              <a:t>the</a:t>
            </a:r>
            <a:r>
              <a:rPr dirty="0" sz="2450" spc="-12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6280B1"/>
                </a:solidFill>
                <a:latin typeface="Arial MT"/>
                <a:cs typeface="Arial MT"/>
              </a:rPr>
              <a:t>platform.</a:t>
            </a:r>
            <a:r>
              <a:rPr dirty="0" sz="2450" spc="-15">
                <a:solidFill>
                  <a:srgbClr val="6280B1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62748E"/>
                </a:solidFill>
                <a:latin typeface="Arial MT"/>
                <a:cs typeface="Arial MT"/>
              </a:rPr>
              <a:t>Students </a:t>
            </a:r>
            <a:r>
              <a:rPr dirty="0" sz="2500" spc="-160">
                <a:solidFill>
                  <a:srgbClr val="62748E"/>
                </a:solidFill>
                <a:latin typeface="Arial MT"/>
                <a:cs typeface="Arial MT"/>
              </a:rPr>
              <a:t>see</a:t>
            </a:r>
            <a:r>
              <a:rPr dirty="0" sz="2500" spc="-1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500" spc="-85">
                <a:solidFill>
                  <a:srgbClr val="62748E"/>
                </a:solidFill>
                <a:latin typeface="Arial MT"/>
                <a:cs typeface="Arial MT"/>
              </a:rPr>
              <a:t>date,</a:t>
            </a:r>
            <a:r>
              <a:rPr dirty="0" sz="2500" spc="-9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500" spc="-55">
                <a:solidFill>
                  <a:srgbClr val="62748E"/>
                </a:solidFill>
                <a:latin typeface="Arial MT"/>
                <a:cs typeface="Arial MT"/>
              </a:rPr>
              <a:t>time,</a:t>
            </a:r>
            <a:r>
              <a:rPr dirty="0" sz="2500" spc="-12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500" spc="-85">
                <a:solidFill>
                  <a:srgbClr val="62748E"/>
                </a:solidFill>
                <a:latin typeface="Arial MT"/>
                <a:cs typeface="Arial MT"/>
              </a:rPr>
              <a:t>and</a:t>
            </a:r>
            <a:r>
              <a:rPr dirty="0" sz="2500" spc="-9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500" spc="-90">
                <a:solidFill>
                  <a:srgbClr val="75748E"/>
                </a:solidFill>
                <a:latin typeface="Arial MT"/>
                <a:cs typeface="Arial MT"/>
              </a:rPr>
              <a:t>mode</a:t>
            </a:r>
            <a:r>
              <a:rPr dirty="0" sz="2500" spc="-85">
                <a:solidFill>
                  <a:srgbClr val="75748E"/>
                </a:solidFill>
                <a:latin typeface="Arial MT"/>
                <a:cs typeface="Arial MT"/>
              </a:rPr>
              <a:t> </a:t>
            </a:r>
            <a:r>
              <a:rPr dirty="0" sz="2500" spc="-60">
                <a:solidFill>
                  <a:srgbClr val="62748E"/>
                </a:solidFill>
                <a:latin typeface="Arial MT"/>
                <a:cs typeface="Arial MT"/>
              </a:rPr>
              <a:t>automatically</a:t>
            </a:r>
            <a:r>
              <a:rPr dirty="0" sz="2500" spc="-4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62748E"/>
                </a:solidFill>
                <a:latin typeface="Arial MT"/>
                <a:cs typeface="Arial MT"/>
              </a:rPr>
              <a:t>in</a:t>
            </a:r>
            <a:r>
              <a:rPr dirty="0" sz="2500" spc="-8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500" spc="-30">
                <a:solidFill>
                  <a:srgbClr val="62748E"/>
                </a:solidFill>
                <a:latin typeface="Arial MT"/>
                <a:cs typeface="Arial MT"/>
              </a:rPr>
              <a:t>their </a:t>
            </a:r>
            <a:r>
              <a:rPr dirty="0" sz="2400" spc="-10">
                <a:solidFill>
                  <a:srgbClr val="62748E"/>
                </a:solidFill>
                <a:latin typeface="Arial MT"/>
                <a:cs typeface="Arial MT"/>
              </a:rPr>
              <a:t>dashboard.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918476" y="4070816"/>
            <a:ext cx="6001385" cy="2702560"/>
          </a:xfrm>
          <a:prstGeom prst="rect">
            <a:avLst/>
          </a:prstGeom>
        </p:spPr>
        <p:txBody>
          <a:bodyPr wrap="square" lIns="0" tIns="25463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2005"/>
              </a:spcBef>
            </a:pPr>
            <a:r>
              <a:rPr dirty="0" sz="3250" spc="140">
                <a:solidFill>
                  <a:srgbClr val="1A1A1A"/>
                </a:solidFill>
                <a:latin typeface="Arial MT"/>
                <a:cs typeface="Arial MT"/>
              </a:rPr>
              <a:t>Application</a:t>
            </a:r>
            <a:r>
              <a:rPr dirty="0" sz="3250" spc="-1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3250" spc="-10">
                <a:solidFill>
                  <a:srgbClr val="1A1A1A"/>
                </a:solidFill>
                <a:latin typeface="Arial MT"/>
                <a:cs typeface="Arial MT"/>
              </a:rPr>
              <a:t>Tracking</a:t>
            </a:r>
            <a:endParaRPr sz="3250">
              <a:latin typeface="Arial MT"/>
              <a:cs typeface="Arial MT"/>
            </a:endParaRPr>
          </a:p>
          <a:p>
            <a:pPr marL="12700" marR="5080" indent="1270">
              <a:lnSpc>
                <a:spcPct val="120800"/>
              </a:lnSpc>
              <a:spcBef>
                <a:spcPts val="840"/>
              </a:spcBef>
              <a:tabLst>
                <a:tab pos="2613660" algn="l"/>
              </a:tabLst>
            </a:pPr>
            <a:r>
              <a:rPr dirty="0" sz="2500" spc="-130">
                <a:solidFill>
                  <a:srgbClr val="62748E"/>
                </a:solidFill>
                <a:latin typeface="Arial MT"/>
                <a:cs typeface="Arial MT"/>
              </a:rPr>
              <a:t>Real-</a:t>
            </a:r>
            <a:r>
              <a:rPr dirty="0" sz="2500" spc="-45">
                <a:solidFill>
                  <a:srgbClr val="62748E"/>
                </a:solidFill>
                <a:latin typeface="Arial MT"/>
                <a:cs typeface="Arial MT"/>
              </a:rPr>
              <a:t>time</a:t>
            </a:r>
            <a:r>
              <a:rPr dirty="0" sz="2500" spc="-2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62748E"/>
                </a:solidFill>
                <a:latin typeface="Arial MT"/>
                <a:cs typeface="Arial MT"/>
              </a:rPr>
              <a:t>status</a:t>
            </a:r>
            <a:r>
              <a:rPr dirty="0" sz="2500">
                <a:solidFill>
                  <a:srgbClr val="62748E"/>
                </a:solidFill>
                <a:latin typeface="Arial MT"/>
                <a:cs typeface="Arial MT"/>
              </a:rPr>
              <a:t>	</a:t>
            </a:r>
            <a:r>
              <a:rPr dirty="0" sz="2500" spc="-50">
                <a:solidFill>
                  <a:srgbClr val="62748E"/>
                </a:solidFill>
                <a:latin typeface="Arial MT"/>
                <a:cs typeface="Arial MT"/>
              </a:rPr>
              <a:t>applied,</a:t>
            </a:r>
            <a:r>
              <a:rPr dirty="0" sz="2500" spc="-7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62748E"/>
                </a:solidFill>
                <a:latin typeface="Arial MT"/>
                <a:cs typeface="Arial MT"/>
              </a:rPr>
              <a:t>shortlisted, </a:t>
            </a:r>
            <a:r>
              <a:rPr dirty="0" sz="2450" spc="-40">
                <a:solidFill>
                  <a:srgbClr val="6280B1"/>
                </a:solidFill>
                <a:latin typeface="Arial MT"/>
                <a:cs typeface="Arial MT"/>
              </a:rPr>
              <a:t>rejected, </a:t>
            </a:r>
            <a:r>
              <a:rPr dirty="0" sz="2450">
                <a:solidFill>
                  <a:srgbClr val="62748E"/>
                </a:solidFill>
                <a:latin typeface="Arial MT"/>
                <a:cs typeface="Arial MT"/>
              </a:rPr>
              <a:t>or</a:t>
            </a:r>
            <a:r>
              <a:rPr dirty="0" sz="2450" spc="-8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40">
                <a:solidFill>
                  <a:srgbClr val="62748E"/>
                </a:solidFill>
                <a:latin typeface="Arial MT"/>
                <a:cs typeface="Arial MT"/>
              </a:rPr>
              <a:t>selected.</a:t>
            </a:r>
            <a:r>
              <a:rPr dirty="0" sz="2450" spc="-2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65">
                <a:solidFill>
                  <a:srgbClr val="62748E"/>
                </a:solidFill>
                <a:latin typeface="Arial MT"/>
                <a:cs typeface="Arial MT"/>
              </a:rPr>
              <a:t>Students</a:t>
            </a:r>
            <a:r>
              <a:rPr dirty="0" sz="2450" spc="-6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50">
                <a:solidFill>
                  <a:srgbClr val="62748E"/>
                </a:solidFill>
                <a:latin typeface="Arial MT"/>
                <a:cs typeface="Arial MT"/>
              </a:rPr>
              <a:t>and</a:t>
            </a:r>
            <a:r>
              <a:rPr dirty="0" sz="2450" spc="-12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62749C"/>
                </a:solidFill>
                <a:latin typeface="Arial MT"/>
                <a:cs typeface="Arial MT"/>
              </a:rPr>
              <a:t>recruiters </a:t>
            </a:r>
            <a:r>
              <a:rPr dirty="0" sz="2500" spc="-10">
                <a:solidFill>
                  <a:srgbClr val="62748E"/>
                </a:solidFill>
                <a:latin typeface="Arial MT"/>
                <a:cs typeface="Arial MT"/>
              </a:rPr>
              <a:t>get</a:t>
            </a:r>
            <a:r>
              <a:rPr dirty="0" sz="2500" spc="-16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500" spc="-375">
                <a:solidFill>
                  <a:srgbClr val="62748E"/>
                </a:solidFill>
                <a:latin typeface="Arial MT"/>
                <a:cs typeface="Arial MT"/>
              </a:rPr>
              <a:t>a</a:t>
            </a:r>
            <a:r>
              <a:rPr dirty="0" sz="2500" spc="10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500" spc="-35">
                <a:solidFill>
                  <a:srgbClr val="62749C"/>
                </a:solidFill>
                <a:latin typeface="Arial MT"/>
                <a:cs typeface="Arial MT"/>
              </a:rPr>
              <a:t>live,</a:t>
            </a:r>
            <a:r>
              <a:rPr dirty="0" sz="2500" spc="-140">
                <a:solidFill>
                  <a:srgbClr val="62749C"/>
                </a:solidFill>
                <a:latin typeface="Arial MT"/>
                <a:cs typeface="Arial MT"/>
              </a:rPr>
              <a:t> </a:t>
            </a:r>
            <a:r>
              <a:rPr dirty="0" sz="2500" spc="-30">
                <a:solidFill>
                  <a:srgbClr val="62748E"/>
                </a:solidFill>
                <a:latin typeface="Arial MT"/>
                <a:cs typeface="Arial MT"/>
              </a:rPr>
              <a:t>unified</a:t>
            </a:r>
            <a:r>
              <a:rPr dirty="0" sz="2500" spc="-11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500" spc="-40">
                <a:solidFill>
                  <a:srgbClr val="62748E"/>
                </a:solidFill>
                <a:latin typeface="Arial MT"/>
                <a:cs typeface="Arial MT"/>
              </a:rPr>
              <a:t>view</a:t>
            </a:r>
            <a:r>
              <a:rPr dirty="0" sz="2500" spc="-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500">
                <a:solidFill>
                  <a:srgbClr val="62748E"/>
                </a:solidFill>
                <a:latin typeface="Arial MT"/>
                <a:cs typeface="Arial MT"/>
              </a:rPr>
              <a:t>of</a:t>
            </a:r>
            <a:r>
              <a:rPr dirty="0" sz="2500" spc="-12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500" spc="-45">
                <a:solidFill>
                  <a:srgbClr val="62748E"/>
                </a:solidFill>
                <a:latin typeface="Arial MT"/>
                <a:cs typeface="Arial MT"/>
              </a:rPr>
              <a:t>every</a:t>
            </a:r>
            <a:r>
              <a:rPr dirty="0" sz="2500" spc="-7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500" spc="-60">
                <a:solidFill>
                  <a:srgbClr val="62748E"/>
                </a:solidFill>
                <a:latin typeface="Arial MT"/>
                <a:cs typeface="Arial MT"/>
              </a:rPr>
              <a:t>application</a:t>
            </a:r>
            <a:r>
              <a:rPr dirty="0" sz="2500" spc="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500" spc="-25">
                <a:solidFill>
                  <a:srgbClr val="62749C"/>
                </a:solidFill>
                <a:latin typeface="Arial MT"/>
                <a:cs typeface="Arial MT"/>
              </a:rPr>
              <a:t>in </a:t>
            </a:r>
            <a:r>
              <a:rPr dirty="0" sz="2500" spc="-20">
                <a:solidFill>
                  <a:srgbClr val="62748E"/>
                </a:solidFill>
                <a:latin typeface="Arial MT"/>
                <a:cs typeface="Arial MT"/>
              </a:rPr>
              <a:t>the</a:t>
            </a:r>
            <a:r>
              <a:rPr dirty="0" sz="2500" spc="-15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500" spc="-10">
                <a:solidFill>
                  <a:srgbClr val="6280B1"/>
                </a:solidFill>
                <a:latin typeface="Arial MT"/>
                <a:cs typeface="Arial MT"/>
              </a:rPr>
              <a:t>pipeline.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913240" y="8015196"/>
            <a:ext cx="5558790" cy="2721610"/>
          </a:xfrm>
          <a:prstGeom prst="rect">
            <a:avLst/>
          </a:prstGeom>
        </p:spPr>
        <p:txBody>
          <a:bodyPr wrap="square" lIns="0" tIns="288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75"/>
              </a:spcBef>
            </a:pPr>
            <a:r>
              <a:rPr dirty="0" sz="3250" spc="80">
                <a:solidFill>
                  <a:srgbClr val="1A1A1A"/>
                </a:solidFill>
                <a:latin typeface="Arial MT"/>
                <a:cs typeface="Arial MT"/>
              </a:rPr>
              <a:t>Placement</a:t>
            </a:r>
            <a:r>
              <a:rPr dirty="0" sz="3250" spc="1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3250" spc="90">
                <a:solidFill>
                  <a:srgbClr val="1A1A1A"/>
                </a:solidFill>
                <a:latin typeface="Arial MT"/>
                <a:cs typeface="Arial MT"/>
              </a:rPr>
              <a:t>Analytics</a:t>
            </a:r>
            <a:endParaRPr sz="3250">
              <a:latin typeface="Arial MT"/>
              <a:cs typeface="Arial MT"/>
            </a:endParaRPr>
          </a:p>
          <a:p>
            <a:pPr marL="22225" marR="5080" indent="-3175">
              <a:lnSpc>
                <a:spcPct val="130400"/>
              </a:lnSpc>
              <a:spcBef>
                <a:spcPts val="745"/>
              </a:spcBef>
              <a:tabLst>
                <a:tab pos="1299845" algn="l"/>
                <a:tab pos="1562735" algn="l"/>
                <a:tab pos="3333750" algn="l"/>
              </a:tabLst>
            </a:pPr>
            <a:r>
              <a:rPr dirty="0" sz="2300">
                <a:solidFill>
                  <a:srgbClr val="62748E"/>
                </a:solidFill>
                <a:latin typeface="Arial MT"/>
                <a:cs typeface="Arial MT"/>
              </a:rPr>
              <a:t>Officer</a:t>
            </a:r>
            <a:r>
              <a:rPr dirty="0" sz="2300" spc="27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62748E"/>
                </a:solidFill>
                <a:latin typeface="Arial MT"/>
                <a:cs typeface="Arial MT"/>
              </a:rPr>
              <a:t>dashboard</a:t>
            </a:r>
            <a:r>
              <a:rPr dirty="0" sz="2300" spc="38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62748E"/>
                </a:solidFill>
                <a:latin typeface="Arial MT"/>
                <a:cs typeface="Arial MT"/>
              </a:rPr>
              <a:t>with</a:t>
            </a:r>
            <a:r>
              <a:rPr dirty="0" sz="2300" spc="14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62748E"/>
                </a:solidFill>
                <a:latin typeface="Arial MT"/>
                <a:cs typeface="Arial MT"/>
              </a:rPr>
              <a:t>bar</a:t>
            </a:r>
            <a:r>
              <a:rPr dirty="0" sz="2300" spc="23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62748E"/>
                </a:solidFill>
                <a:latin typeface="Arial MT"/>
                <a:cs typeface="Arial MT"/>
              </a:rPr>
              <a:t>charts</a:t>
            </a:r>
            <a:r>
              <a:rPr dirty="0" sz="2300" spc="17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62748E"/>
                </a:solidFill>
                <a:latin typeface="Arial MT"/>
                <a:cs typeface="Arial MT"/>
              </a:rPr>
              <a:t>and</a:t>
            </a:r>
            <a:r>
              <a:rPr dirty="0" sz="2300" spc="13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62748E"/>
                </a:solidFill>
                <a:latin typeface="Arial MT"/>
                <a:cs typeface="Arial MT"/>
              </a:rPr>
              <a:t>pie </a:t>
            </a:r>
            <a:r>
              <a:rPr dirty="0" sz="2300" spc="-10">
                <a:solidFill>
                  <a:srgbClr val="62748E"/>
                </a:solidFill>
                <a:latin typeface="Arial MT"/>
                <a:cs typeface="Arial MT"/>
              </a:rPr>
              <a:t>charts</a:t>
            </a:r>
            <a:r>
              <a:rPr dirty="0" sz="2300">
                <a:solidFill>
                  <a:srgbClr val="62748E"/>
                </a:solidFill>
                <a:latin typeface="Arial MT"/>
                <a:cs typeface="Arial MT"/>
              </a:rPr>
              <a:t>	company-</a:t>
            </a:r>
            <a:r>
              <a:rPr dirty="0" sz="2300" spc="-20">
                <a:solidFill>
                  <a:srgbClr val="62748E"/>
                </a:solidFill>
                <a:latin typeface="Arial MT"/>
                <a:cs typeface="Arial MT"/>
              </a:rPr>
              <a:t>wise</a:t>
            </a:r>
            <a:r>
              <a:rPr dirty="0" sz="2300">
                <a:solidFill>
                  <a:srgbClr val="62748E"/>
                </a:solidFill>
                <a:latin typeface="Arial MT"/>
                <a:cs typeface="Arial MT"/>
              </a:rPr>
              <a:t>	</a:t>
            </a:r>
            <a:r>
              <a:rPr dirty="0" sz="2300" spc="-10">
                <a:solidFill>
                  <a:srgbClr val="62748E"/>
                </a:solidFill>
                <a:latin typeface="Arial MT"/>
                <a:cs typeface="Arial MT"/>
              </a:rPr>
              <a:t>placements, application</a:t>
            </a:r>
            <a:r>
              <a:rPr dirty="0" sz="2300">
                <a:solidFill>
                  <a:srgbClr val="62748E"/>
                </a:solidFill>
                <a:latin typeface="Arial MT"/>
                <a:cs typeface="Arial MT"/>
              </a:rPr>
              <a:t>	status</a:t>
            </a:r>
            <a:r>
              <a:rPr dirty="0" sz="2300" spc="17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62748E"/>
                </a:solidFill>
                <a:latin typeface="Arial MT"/>
                <a:cs typeface="Arial MT"/>
              </a:rPr>
              <a:t>breakdown,</a:t>
            </a:r>
            <a:r>
              <a:rPr dirty="0" sz="2300" spc="32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62748E"/>
                </a:solidFill>
                <a:latin typeface="Arial MT"/>
                <a:cs typeface="Arial MT"/>
              </a:rPr>
              <a:t>eligible </a:t>
            </a:r>
            <a:r>
              <a:rPr dirty="0" sz="2300">
                <a:solidFill>
                  <a:srgbClr val="62748E"/>
                </a:solidFill>
                <a:latin typeface="Arial MT"/>
                <a:cs typeface="Arial MT"/>
              </a:rPr>
              <a:t>students,</a:t>
            </a:r>
            <a:r>
              <a:rPr dirty="0" sz="2300" spc="20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6280B1"/>
                </a:solidFill>
                <a:latin typeface="Arial MT"/>
                <a:cs typeface="Arial MT"/>
              </a:rPr>
              <a:t>pending</a:t>
            </a:r>
            <a:r>
              <a:rPr dirty="0" sz="2300" spc="110">
                <a:solidFill>
                  <a:srgbClr val="6280B1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62748E"/>
                </a:solidFill>
                <a:latin typeface="Arial MT"/>
                <a:cs typeface="Arial MT"/>
              </a:rPr>
              <a:t>approvals</a:t>
            </a:r>
            <a:r>
              <a:rPr dirty="0" sz="2300" spc="22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62748E"/>
                </a:solidFill>
                <a:latin typeface="Arial MT"/>
                <a:cs typeface="Arial MT"/>
              </a:rPr>
              <a:t>at</a:t>
            </a:r>
            <a:r>
              <a:rPr dirty="0" sz="2300" spc="10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62748E"/>
                </a:solidFill>
                <a:latin typeface="Arial MT"/>
                <a:cs typeface="Arial MT"/>
              </a:rPr>
              <a:t>a</a:t>
            </a:r>
            <a:r>
              <a:rPr dirty="0" sz="2300" spc="19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62748E"/>
                </a:solidFill>
                <a:latin typeface="Arial MT"/>
                <a:cs typeface="Arial MT"/>
              </a:rPr>
              <a:t>glance.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0" y="9109670"/>
            <a:ext cx="20093629" cy="39789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0" y="4837548"/>
            <a:ext cx="20093629" cy="153922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0470" y="1424040"/>
            <a:ext cx="20093940" cy="806450"/>
            <a:chOff x="10470" y="1424040"/>
            <a:chExt cx="20093940" cy="806450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70" y="1424040"/>
              <a:ext cx="20093629" cy="80625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895221" y="1581105"/>
              <a:ext cx="6879590" cy="471805"/>
            </a:xfrm>
            <a:custGeom>
              <a:avLst/>
              <a:gdLst/>
              <a:ahLst/>
              <a:cxnLst/>
              <a:rect l="l" t="t" r="r" b="b"/>
              <a:pathLst>
                <a:path w="6879590" h="471805">
                  <a:moveTo>
                    <a:pt x="2785262" y="0"/>
                  </a:moveTo>
                  <a:lnTo>
                    <a:pt x="0" y="0"/>
                  </a:lnTo>
                  <a:lnTo>
                    <a:pt x="0" y="471195"/>
                  </a:lnTo>
                  <a:lnTo>
                    <a:pt x="2785262" y="471195"/>
                  </a:lnTo>
                  <a:lnTo>
                    <a:pt x="2785262" y="0"/>
                  </a:lnTo>
                  <a:close/>
                </a:path>
                <a:path w="6879590" h="471805">
                  <a:moveTo>
                    <a:pt x="5371566" y="0"/>
                  </a:moveTo>
                  <a:lnTo>
                    <a:pt x="3298329" y="0"/>
                  </a:lnTo>
                  <a:lnTo>
                    <a:pt x="3298329" y="471195"/>
                  </a:lnTo>
                  <a:lnTo>
                    <a:pt x="5371566" y="471195"/>
                  </a:lnTo>
                  <a:lnTo>
                    <a:pt x="5371566" y="0"/>
                  </a:lnTo>
                  <a:close/>
                </a:path>
                <a:path w="6879590" h="471805">
                  <a:moveTo>
                    <a:pt x="6879374" y="0"/>
                  </a:moveTo>
                  <a:lnTo>
                    <a:pt x="6020765" y="0"/>
                  </a:lnTo>
                  <a:lnTo>
                    <a:pt x="6020765" y="471195"/>
                  </a:lnTo>
                  <a:lnTo>
                    <a:pt x="6879374" y="471195"/>
                  </a:lnTo>
                  <a:lnTo>
                    <a:pt x="6879374" y="0"/>
                  </a:lnTo>
                  <a:close/>
                </a:path>
              </a:pathLst>
            </a:custGeom>
            <a:solidFill>
              <a:srgbClr val="1616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219584" y="1581103"/>
              <a:ext cx="586740" cy="471805"/>
            </a:xfrm>
            <a:custGeom>
              <a:avLst/>
              <a:gdLst/>
              <a:ahLst/>
              <a:cxnLst/>
              <a:rect l="l" t="t" r="r" b="b"/>
              <a:pathLst>
                <a:path w="586740" h="471805">
                  <a:moveTo>
                    <a:pt x="586369" y="471189"/>
                  </a:moveTo>
                  <a:lnTo>
                    <a:pt x="0" y="471189"/>
                  </a:lnTo>
                  <a:lnTo>
                    <a:pt x="0" y="0"/>
                  </a:lnTo>
                  <a:lnTo>
                    <a:pt x="586369" y="0"/>
                  </a:lnTo>
                  <a:lnTo>
                    <a:pt x="586369" y="471189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312795" algn="l"/>
                <a:tab pos="6032500" algn="l"/>
                <a:tab pos="8296909" algn="l"/>
              </a:tabLst>
            </a:pPr>
            <a:r>
              <a:rPr dirty="0" sz="7400" spc="-620"/>
              <a:t>ea</a:t>
            </a:r>
            <a:r>
              <a:rPr dirty="0" sz="7400" spc="-15"/>
              <a:t> </a:t>
            </a:r>
            <a:r>
              <a:rPr dirty="0" sz="7400" spc="-25"/>
              <a:t>com</a:t>
            </a:r>
            <a:r>
              <a:rPr dirty="0" sz="7400"/>
              <a:t>	</a:t>
            </a:r>
            <a:r>
              <a:rPr dirty="0" spc="-430"/>
              <a:t>anies.</a:t>
            </a:r>
            <a:r>
              <a:rPr dirty="0"/>
              <a:t>	</a:t>
            </a:r>
            <a:r>
              <a:rPr dirty="0" sz="7500" spc="-700"/>
              <a:t>ea</a:t>
            </a:r>
            <a:r>
              <a:rPr dirty="0" sz="7500"/>
              <a:t>	</a:t>
            </a:r>
            <a:r>
              <a:rPr dirty="0" sz="6500" spc="-969">
                <a:latin typeface="Courier New"/>
                <a:cs typeface="Courier New"/>
              </a:rPr>
              <a:t>S.</a:t>
            </a:r>
            <a:endParaRPr sz="65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0470" y="6764191"/>
            <a:ext cx="20083780" cy="356235"/>
          </a:xfrm>
          <a:custGeom>
            <a:avLst/>
            <a:gdLst/>
            <a:ahLst/>
            <a:cxnLst/>
            <a:rect l="l" t="t" r="r" b="b"/>
            <a:pathLst>
              <a:path w="20083780" h="356234">
                <a:moveTo>
                  <a:pt x="20083153" y="356010"/>
                </a:moveTo>
                <a:lnTo>
                  <a:pt x="0" y="356010"/>
                </a:lnTo>
                <a:lnTo>
                  <a:pt x="0" y="0"/>
                </a:lnTo>
                <a:lnTo>
                  <a:pt x="20083153" y="0"/>
                </a:lnTo>
                <a:lnTo>
                  <a:pt x="20083153" y="356010"/>
                </a:lnTo>
                <a:close/>
              </a:path>
            </a:pathLst>
          </a:custGeom>
          <a:solidFill>
            <a:srgbClr val="0E1C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2630157" y="6652163"/>
            <a:ext cx="2898140" cy="4718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00">
                <a:solidFill>
                  <a:srgbClr val="D4D4D4"/>
                </a:solidFill>
                <a:latin typeface="Arial MT"/>
                <a:cs typeface="Arial MT"/>
              </a:rPr>
              <a:t>Live</a:t>
            </a:r>
            <a:r>
              <a:rPr dirty="0" sz="2900" spc="19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900" spc="90">
                <a:solidFill>
                  <a:srgbClr val="D4D4D4"/>
                </a:solidFill>
                <a:latin typeface="Arial MT"/>
                <a:cs typeface="Arial MT"/>
              </a:rPr>
              <a:t>Job</a:t>
            </a:r>
            <a:r>
              <a:rPr dirty="0" sz="2900" spc="1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900" spc="50">
                <a:solidFill>
                  <a:srgbClr val="D4D4D4"/>
                </a:solidFill>
                <a:latin typeface="Arial MT"/>
                <a:cs typeface="Arial MT"/>
              </a:rPr>
              <a:t>Listings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485941" y="6647074"/>
            <a:ext cx="3088640" cy="4775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>
                <a:solidFill>
                  <a:srgbClr val="D4D4D4"/>
                </a:solidFill>
                <a:latin typeface="Arial MT"/>
                <a:cs typeface="Arial MT"/>
              </a:rPr>
              <a:t>Indian</a:t>
            </a:r>
            <a:r>
              <a:rPr dirty="0" sz="2950" spc="19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D4D4D4"/>
                </a:solidFill>
                <a:latin typeface="Arial MT"/>
                <a:cs typeface="Arial MT"/>
              </a:rPr>
              <a:t>Companies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374296" y="6616534"/>
            <a:ext cx="326580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30">
                <a:solidFill>
                  <a:srgbClr val="D4D4D4"/>
                </a:solidFill>
                <a:latin typeface="Arial MT"/>
                <a:cs typeface="Arial MT"/>
              </a:rPr>
              <a:t>Distinct</a:t>
            </a:r>
            <a:r>
              <a:rPr dirty="0" sz="3200" spc="-13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3200" spc="-90">
                <a:solidFill>
                  <a:srgbClr val="D4D4D4"/>
                </a:solidFill>
                <a:latin typeface="Arial MT"/>
                <a:cs typeface="Arial MT"/>
              </a:rPr>
              <a:t>User</a:t>
            </a:r>
            <a:r>
              <a:rPr dirty="0" sz="3200" spc="-13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3200" spc="-160">
                <a:solidFill>
                  <a:srgbClr val="D4D4D4"/>
                </a:solidFill>
                <a:latin typeface="Arial MT"/>
                <a:cs typeface="Arial MT"/>
              </a:rPr>
              <a:t>Roles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0470" y="10544181"/>
            <a:ext cx="20093940" cy="188595"/>
            <a:chOff x="10470" y="10544181"/>
            <a:chExt cx="20093940" cy="188595"/>
          </a:xfrm>
        </p:grpSpPr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04160" y="10554652"/>
              <a:ext cx="1329802" cy="16753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70" y="10544181"/>
              <a:ext cx="20093629" cy="1884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5923" y="2439716"/>
            <a:ext cx="6711837" cy="78531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4982" y="1434511"/>
            <a:ext cx="6659483" cy="6387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104100" cy="6282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94177" y="4900374"/>
            <a:ext cx="1842875" cy="24083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20698" y="7350561"/>
            <a:ext cx="2554896" cy="30365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20698" y="8575654"/>
            <a:ext cx="1853346" cy="31412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957690" y="6125467"/>
            <a:ext cx="1821934" cy="24083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411759" y="639403"/>
            <a:ext cx="2402205" cy="367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50" spc="-390">
                <a:solidFill>
                  <a:srgbClr val="3B82F6"/>
                </a:solidFill>
                <a:latin typeface="Arial MT"/>
                <a:cs typeface="Arial MT"/>
              </a:rPr>
              <a:t>A</a:t>
            </a:r>
            <a:r>
              <a:rPr dirty="0" sz="2250" spc="-110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2250" spc="-540">
                <a:solidFill>
                  <a:srgbClr val="3B82F6"/>
                </a:solidFill>
                <a:latin typeface="Arial MT"/>
                <a:cs typeface="Arial MT"/>
              </a:rPr>
              <a:t>R</a:t>
            </a:r>
            <a:r>
              <a:rPr dirty="0" sz="2250" spc="-100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2250" spc="-360">
                <a:solidFill>
                  <a:srgbClr val="3B82F6"/>
                </a:solidFill>
                <a:latin typeface="Arial MT"/>
                <a:cs typeface="Arial MT"/>
              </a:rPr>
              <a:t>C</a:t>
            </a:r>
            <a:r>
              <a:rPr dirty="0" sz="2250" spc="-155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2250" spc="-295">
                <a:solidFill>
                  <a:srgbClr val="3B82F6"/>
                </a:solidFill>
                <a:latin typeface="Arial MT"/>
                <a:cs typeface="Arial MT"/>
              </a:rPr>
              <a:t>H</a:t>
            </a:r>
            <a:r>
              <a:rPr dirty="0" sz="2250" spc="-190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2250" spc="-165">
                <a:solidFill>
                  <a:srgbClr val="3B82F6"/>
                </a:solidFill>
                <a:latin typeface="Arial MT"/>
                <a:cs typeface="Arial MT"/>
              </a:rPr>
              <a:t>I</a:t>
            </a:r>
            <a:r>
              <a:rPr dirty="0" sz="2250" spc="-114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2250" spc="-265">
                <a:solidFill>
                  <a:srgbClr val="3B82F6"/>
                </a:solidFill>
                <a:latin typeface="Arial MT"/>
                <a:cs typeface="Arial MT"/>
              </a:rPr>
              <a:t>T</a:t>
            </a:r>
            <a:r>
              <a:rPr dirty="0" sz="2250" spc="-145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2250" spc="-509">
                <a:solidFill>
                  <a:srgbClr val="3B82F6"/>
                </a:solidFill>
                <a:latin typeface="Arial MT"/>
                <a:cs typeface="Arial MT"/>
              </a:rPr>
              <a:t>E</a:t>
            </a:r>
            <a:r>
              <a:rPr dirty="0" sz="2250" spc="-75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2250" spc="-455">
                <a:solidFill>
                  <a:srgbClr val="3B82F6"/>
                </a:solidFill>
                <a:latin typeface="Arial MT"/>
                <a:cs typeface="Arial MT"/>
              </a:rPr>
              <a:t>C</a:t>
            </a:r>
            <a:r>
              <a:rPr dirty="0" sz="2250" spc="-15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2250" spc="-265">
                <a:solidFill>
                  <a:srgbClr val="3B82F6"/>
                </a:solidFill>
                <a:latin typeface="Arial MT"/>
                <a:cs typeface="Arial MT"/>
              </a:rPr>
              <a:t>T</a:t>
            </a:r>
            <a:r>
              <a:rPr dirty="0" sz="2250" spc="-145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2250" spc="-295">
                <a:solidFill>
                  <a:srgbClr val="3B82F6"/>
                </a:solidFill>
                <a:latin typeface="Arial MT"/>
                <a:cs typeface="Arial MT"/>
              </a:rPr>
              <a:t>U</a:t>
            </a:r>
            <a:r>
              <a:rPr dirty="0" sz="2250" spc="-235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2250" spc="-540">
                <a:solidFill>
                  <a:srgbClr val="3B82F6"/>
                </a:solidFill>
                <a:latin typeface="Arial MT"/>
                <a:cs typeface="Arial MT"/>
              </a:rPr>
              <a:t>R</a:t>
            </a:r>
            <a:r>
              <a:rPr dirty="0" sz="2250" spc="-80">
                <a:solidFill>
                  <a:srgbClr val="3B82F6"/>
                </a:solidFill>
                <a:latin typeface="Arial MT"/>
                <a:cs typeface="Arial MT"/>
              </a:rPr>
              <a:t> </a:t>
            </a:r>
            <a:r>
              <a:rPr dirty="0" sz="2250" spc="-560">
                <a:solidFill>
                  <a:srgbClr val="3B82F6"/>
                </a:solidFill>
                <a:latin typeface="Arial MT"/>
                <a:cs typeface="Arial MT"/>
              </a:rPr>
              <a:t>E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062478" y="1082380"/>
            <a:ext cx="4366895" cy="11620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04110" algn="l"/>
              </a:tabLst>
            </a:pPr>
            <a:r>
              <a:rPr dirty="0" sz="7450" spc="-459">
                <a:solidFill>
                  <a:srgbClr val="161616"/>
                </a:solidFill>
              </a:rPr>
              <a:t>ern</a:t>
            </a:r>
            <a:r>
              <a:rPr dirty="0" sz="7450">
                <a:solidFill>
                  <a:srgbClr val="161616"/>
                </a:solidFill>
              </a:rPr>
              <a:t>	</a:t>
            </a:r>
            <a:r>
              <a:rPr dirty="0" sz="7450" spc="-130">
                <a:solidFill>
                  <a:srgbClr val="161616"/>
                </a:solidFill>
              </a:rPr>
              <a:t>-</a:t>
            </a:r>
            <a:r>
              <a:rPr dirty="0" sz="7450" spc="-160">
                <a:solidFill>
                  <a:srgbClr val="161616"/>
                </a:solidFill>
              </a:rPr>
              <a:t>stac</a:t>
            </a:r>
            <a:endParaRPr sz="7450"/>
          </a:p>
        </p:txBody>
      </p:sp>
      <p:sp>
        <p:nvSpPr>
          <p:cNvPr id="11" name="object 11" descr=""/>
          <p:cNvSpPr txBox="1"/>
          <p:nvPr/>
        </p:nvSpPr>
        <p:spPr>
          <a:xfrm>
            <a:off x="3110863" y="2102855"/>
            <a:ext cx="3876675" cy="11436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300" spc="-229">
                <a:solidFill>
                  <a:srgbClr val="3B82F6"/>
                </a:solidFill>
                <a:latin typeface="Arial MT"/>
                <a:cs typeface="Arial MT"/>
              </a:rPr>
              <a:t>uction-</a:t>
            </a:r>
            <a:r>
              <a:rPr dirty="0" sz="7300" spc="-280">
                <a:solidFill>
                  <a:srgbClr val="3B82F6"/>
                </a:solidFill>
                <a:latin typeface="Arial MT"/>
                <a:cs typeface="Arial MT"/>
              </a:rPr>
              <a:t>rea</a:t>
            </a:r>
            <a:endParaRPr sz="73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806376" y="4068763"/>
            <a:ext cx="1524000" cy="374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250" spc="-90">
                <a:solidFill>
                  <a:srgbClr val="3B82F6"/>
                </a:solidFill>
                <a:latin typeface="Arial MT"/>
                <a:cs typeface="Arial MT"/>
              </a:rPr>
              <a:t>FRONTEND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052184" y="5245720"/>
            <a:ext cx="3494404" cy="1556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100"/>
              </a:spcBef>
            </a:pPr>
            <a:r>
              <a:rPr dirty="0" sz="2000" spc="-180">
                <a:solidFill>
                  <a:srgbClr val="62748E"/>
                </a:solidFill>
                <a:latin typeface="Arial MT"/>
                <a:cs typeface="Arial MT"/>
              </a:rPr>
              <a:t>SPA</a:t>
            </a:r>
            <a:r>
              <a:rPr dirty="0" sz="2000" spc="7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62748E"/>
                </a:solidFill>
                <a:latin typeface="Arial MT"/>
                <a:cs typeface="Arial MT"/>
              </a:rPr>
              <a:t>with</a:t>
            </a:r>
            <a:r>
              <a:rPr dirty="0" sz="2000" spc="-3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62748E"/>
                </a:solidFill>
                <a:latin typeface="Arial MT"/>
                <a:cs typeface="Arial MT"/>
              </a:rPr>
              <a:t>Wouter</a:t>
            </a:r>
            <a:r>
              <a:rPr dirty="0" sz="2000" spc="10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62748E"/>
                </a:solidFill>
                <a:latin typeface="Arial MT"/>
                <a:cs typeface="Arial MT"/>
              </a:rPr>
              <a:t>routing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803275" algn="l"/>
                <a:tab pos="2510155" algn="l"/>
              </a:tabLst>
            </a:pPr>
            <a:r>
              <a:rPr dirty="0" sz="2800" spc="-25">
                <a:solidFill>
                  <a:srgbClr val="1A1A1A"/>
                </a:solidFill>
                <a:latin typeface="Arial MT"/>
                <a:cs typeface="Arial MT"/>
              </a:rPr>
              <a:t>Tai</a:t>
            </a:r>
            <a:r>
              <a:rPr dirty="0" sz="2800">
                <a:solidFill>
                  <a:srgbClr val="1A1A1A"/>
                </a:solidFill>
                <a:latin typeface="Arial MT"/>
                <a:cs typeface="Arial MT"/>
              </a:rPr>
              <a:t>	ind</a:t>
            </a:r>
            <a:r>
              <a:rPr dirty="0" sz="2800" spc="-2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1A1A1A"/>
                </a:solidFill>
                <a:latin typeface="Arial MT"/>
                <a:cs typeface="Arial MT"/>
              </a:rPr>
              <a:t>CSS</a:t>
            </a:r>
            <a:r>
              <a:rPr dirty="0" sz="280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2800" spc="-10">
                <a:solidFill>
                  <a:srgbClr val="1A1A1A"/>
                </a:solidFill>
                <a:latin typeface="Arial MT"/>
                <a:cs typeface="Arial MT"/>
              </a:rPr>
              <a:t>hadcn</a:t>
            </a:r>
            <a:endParaRPr sz="2800">
              <a:latin typeface="Arial MT"/>
              <a:cs typeface="Arial MT"/>
            </a:endParaRPr>
          </a:p>
          <a:p>
            <a:pPr marL="21590">
              <a:lnSpc>
                <a:spcPct val="100000"/>
              </a:lnSpc>
              <a:spcBef>
                <a:spcPts val="409"/>
              </a:spcBef>
            </a:pPr>
            <a:r>
              <a:rPr dirty="0" sz="2000">
                <a:solidFill>
                  <a:srgbClr val="62748E"/>
                </a:solidFill>
                <a:latin typeface="Arial MT"/>
                <a:cs typeface="Arial MT"/>
              </a:rPr>
              <a:t>UI</a:t>
            </a:r>
            <a:r>
              <a:rPr dirty="0" sz="2000" spc="-9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708095"/>
                </a:solidFill>
                <a:latin typeface="Arial MT"/>
                <a:cs typeface="Arial MT"/>
              </a:rPr>
              <a:t>components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052423" y="7154946"/>
            <a:ext cx="2921635" cy="87185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887730" algn="l"/>
              </a:tabLst>
            </a:pPr>
            <a:r>
              <a:rPr dirty="0" sz="2700" spc="-20">
                <a:solidFill>
                  <a:srgbClr val="1A1A1A"/>
                </a:solidFill>
                <a:latin typeface="Arial MT"/>
                <a:cs typeface="Arial MT"/>
              </a:rPr>
              <a:t>TanS</a:t>
            </a:r>
            <a:r>
              <a:rPr dirty="0" sz="270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2700" spc="70">
                <a:solidFill>
                  <a:srgbClr val="1A1A1A"/>
                </a:solidFill>
                <a:latin typeface="Arial MT"/>
                <a:cs typeface="Arial MT"/>
              </a:rPr>
              <a:t>ack</a:t>
            </a:r>
            <a:r>
              <a:rPr dirty="0" sz="2700" spc="-2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1A1A1A"/>
                </a:solidFill>
                <a:latin typeface="Arial MT"/>
                <a:cs typeface="Arial MT"/>
              </a:rPr>
              <a:t>Query</a:t>
            </a:r>
            <a:endParaRPr sz="2700">
              <a:latin typeface="Arial MT"/>
              <a:cs typeface="Arial MT"/>
            </a:endParaRPr>
          </a:p>
          <a:p>
            <a:pPr marL="29845">
              <a:lnSpc>
                <a:spcPct val="100000"/>
              </a:lnSpc>
              <a:spcBef>
                <a:spcPts val="425"/>
              </a:spcBef>
            </a:pPr>
            <a:r>
              <a:rPr dirty="0" sz="2000" spc="-10">
                <a:solidFill>
                  <a:srgbClr val="62748E"/>
                </a:solidFill>
                <a:latin typeface="Arial MT"/>
                <a:cs typeface="Arial MT"/>
              </a:rPr>
              <a:t>Server</a:t>
            </a:r>
            <a:r>
              <a:rPr dirty="0" sz="2000" spc="5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627797"/>
                </a:solidFill>
                <a:latin typeface="Arial MT"/>
                <a:cs typeface="Arial MT"/>
              </a:rPr>
              <a:t>state</a:t>
            </a:r>
            <a:r>
              <a:rPr dirty="0" sz="2000" spc="-45">
                <a:solidFill>
                  <a:srgbClr val="627797"/>
                </a:solidFill>
                <a:latin typeface="Arial MT"/>
                <a:cs typeface="Arial MT"/>
              </a:rPr>
              <a:t> </a:t>
            </a:r>
            <a:r>
              <a:rPr dirty="0" sz="2000" spc="-30">
                <a:solidFill>
                  <a:srgbClr val="628EC1"/>
                </a:solidFill>
                <a:latin typeface="Arial MT"/>
                <a:cs typeface="Arial MT"/>
              </a:rPr>
              <a:t>management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054268" y="8380040"/>
            <a:ext cx="1842135" cy="87185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1243330" algn="l"/>
              </a:tabLst>
            </a:pPr>
            <a:r>
              <a:rPr dirty="0" sz="2700" spc="-10">
                <a:solidFill>
                  <a:srgbClr val="1A1A1A"/>
                </a:solidFill>
                <a:latin typeface="Arial MT"/>
                <a:cs typeface="Arial MT"/>
              </a:rPr>
              <a:t>Rechar</a:t>
            </a:r>
            <a:r>
              <a:rPr dirty="0" sz="270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2700" spc="-50">
                <a:solidFill>
                  <a:srgbClr val="1A1A1A"/>
                </a:solidFill>
                <a:latin typeface="Arial MT"/>
                <a:cs typeface="Arial MT"/>
              </a:rPr>
              <a:t>s</a:t>
            </a:r>
            <a:endParaRPr sz="2700">
              <a:latin typeface="Arial MT"/>
              <a:cs typeface="Arial MT"/>
            </a:endParaRPr>
          </a:p>
          <a:p>
            <a:pPr marL="29209">
              <a:lnSpc>
                <a:spcPct val="100000"/>
              </a:lnSpc>
              <a:spcBef>
                <a:spcPts val="425"/>
              </a:spcBef>
            </a:pPr>
            <a:r>
              <a:rPr dirty="0" sz="2000">
                <a:solidFill>
                  <a:srgbClr val="6274A3"/>
                </a:solidFill>
                <a:latin typeface="Arial MT"/>
                <a:cs typeface="Arial MT"/>
              </a:rPr>
              <a:t>Analytics</a:t>
            </a:r>
            <a:r>
              <a:rPr dirty="0" sz="2000" spc="75">
                <a:solidFill>
                  <a:srgbClr val="6274A3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667C97"/>
                </a:solidFill>
                <a:latin typeface="Arial MT"/>
                <a:cs typeface="Arial MT"/>
              </a:rPr>
              <a:t>charts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745543" y="4063673"/>
            <a:ext cx="1352550" cy="3797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00" spc="-100">
                <a:solidFill>
                  <a:srgbClr val="0FB880"/>
                </a:solidFill>
                <a:latin typeface="Arial MT"/>
                <a:cs typeface="Arial MT"/>
              </a:rPr>
              <a:t>BACKEND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981019" y="4725462"/>
            <a:ext cx="1866900" cy="85344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650">
                <a:solidFill>
                  <a:srgbClr val="1A1A1A"/>
                </a:solidFill>
                <a:latin typeface="Arial MT"/>
                <a:cs typeface="Arial MT"/>
              </a:rPr>
              <a:t>Express</a:t>
            </a:r>
            <a:r>
              <a:rPr dirty="0" sz="2650" spc="-1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650" spc="-50">
                <a:solidFill>
                  <a:srgbClr val="1A1A1A"/>
                </a:solidFill>
                <a:latin typeface="Arial MT"/>
                <a:cs typeface="Arial MT"/>
              </a:rPr>
              <a:t>5</a:t>
            </a:r>
            <a:endParaRPr sz="2650">
              <a:latin typeface="Arial MT"/>
              <a:cs typeface="Arial MT"/>
            </a:endParaRPr>
          </a:p>
          <a:p>
            <a:pPr marL="29209">
              <a:lnSpc>
                <a:spcPct val="100000"/>
              </a:lnSpc>
              <a:spcBef>
                <a:spcPts val="390"/>
              </a:spcBef>
            </a:pPr>
            <a:r>
              <a:rPr dirty="0" sz="2050" spc="-190">
                <a:solidFill>
                  <a:srgbClr val="6277A5"/>
                </a:solidFill>
                <a:latin typeface="Arial MT"/>
                <a:cs typeface="Arial MT"/>
              </a:rPr>
              <a:t>REST</a:t>
            </a:r>
            <a:r>
              <a:rPr dirty="0" sz="2050" spc="70">
                <a:solidFill>
                  <a:srgbClr val="6277A5"/>
                </a:solidFill>
                <a:latin typeface="Arial MT"/>
                <a:cs typeface="Arial MT"/>
              </a:rPr>
              <a:t> </a:t>
            </a:r>
            <a:r>
              <a:rPr dirty="0" sz="2050" spc="-105">
                <a:solidFill>
                  <a:srgbClr val="627490"/>
                </a:solidFill>
                <a:latin typeface="Arial MT"/>
                <a:cs typeface="Arial MT"/>
              </a:rPr>
              <a:t>API</a:t>
            </a:r>
            <a:r>
              <a:rPr dirty="0" sz="2050" spc="-40">
                <a:solidFill>
                  <a:srgbClr val="627490"/>
                </a:solidFill>
                <a:latin typeface="Arial MT"/>
                <a:cs typeface="Arial MT"/>
              </a:rPr>
              <a:t> </a:t>
            </a:r>
            <a:r>
              <a:rPr dirty="0" sz="2050" spc="-30">
                <a:solidFill>
                  <a:srgbClr val="627495"/>
                </a:solidFill>
                <a:latin typeface="Arial MT"/>
                <a:cs typeface="Arial MT"/>
              </a:rPr>
              <a:t>server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988149" y="5934643"/>
            <a:ext cx="2438400" cy="86741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2650">
                <a:solidFill>
                  <a:srgbClr val="1A1A1A"/>
                </a:solidFill>
                <a:latin typeface="Arial MT"/>
                <a:cs typeface="Arial MT"/>
              </a:rPr>
              <a:t>JWTAu</a:t>
            </a:r>
            <a:r>
              <a:rPr dirty="0" sz="2650" spc="229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650" spc="65">
                <a:solidFill>
                  <a:srgbClr val="1A1A1A"/>
                </a:solidFill>
                <a:latin typeface="Arial MT"/>
                <a:cs typeface="Arial MT"/>
              </a:rPr>
              <a:t>h</a:t>
            </a:r>
            <a:endParaRPr sz="26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440"/>
              </a:spcBef>
            </a:pPr>
            <a:r>
              <a:rPr dirty="0" sz="2000">
                <a:solidFill>
                  <a:srgbClr val="62748E"/>
                </a:solidFill>
                <a:latin typeface="Arial MT"/>
                <a:cs typeface="Arial MT"/>
              </a:rPr>
              <a:t>7-day</a:t>
            </a:r>
            <a:r>
              <a:rPr dirty="0" sz="2000" spc="11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66809C"/>
                </a:solidFill>
                <a:latin typeface="Arial MT"/>
                <a:cs typeface="Arial MT"/>
              </a:rPr>
              <a:t>token,</a:t>
            </a:r>
            <a:r>
              <a:rPr dirty="0" sz="2000" spc="40">
                <a:solidFill>
                  <a:srgbClr val="66809C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627CAA"/>
                </a:solidFill>
                <a:latin typeface="Arial MT"/>
                <a:cs typeface="Arial MT"/>
              </a:rPr>
              <a:t>bcryptjs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996565" y="7695907"/>
            <a:ext cx="22078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62748E"/>
                </a:solidFill>
                <a:latin typeface="Arial MT"/>
                <a:cs typeface="Arial MT"/>
              </a:rPr>
              <a:t>Spec-first</a:t>
            </a:r>
            <a:r>
              <a:rPr dirty="0" sz="2000" spc="44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627797"/>
                </a:solidFill>
                <a:latin typeface="Arial MT"/>
                <a:cs typeface="Arial MT"/>
              </a:rPr>
              <a:t>codegen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996108" y="8910821"/>
            <a:ext cx="2477135" cy="3435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50" spc="-10">
                <a:solidFill>
                  <a:srgbClr val="62748E"/>
                </a:solidFill>
                <a:latin typeface="Arial MT"/>
                <a:cs typeface="Arial MT"/>
              </a:rPr>
              <a:t>Structured</a:t>
            </a:r>
            <a:r>
              <a:rPr dirty="0" sz="2050" spc="-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050" spc="-90">
                <a:solidFill>
                  <a:srgbClr val="62748E"/>
                </a:solidFill>
                <a:latin typeface="Arial MT"/>
                <a:cs typeface="Arial MT"/>
              </a:rPr>
              <a:t>JSON</a:t>
            </a:r>
            <a:r>
              <a:rPr dirty="0" sz="2050" spc="-4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62748E"/>
                </a:solidFill>
                <a:latin typeface="Arial MT"/>
                <a:cs typeface="Arial MT"/>
              </a:rPr>
              <a:t>logs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3670517" y="4058583"/>
            <a:ext cx="2479675" cy="151828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350" spc="-210">
                <a:solidFill>
                  <a:srgbClr val="E17000"/>
                </a:solidFill>
                <a:latin typeface="Arial MT"/>
                <a:cs typeface="Arial MT"/>
              </a:rPr>
              <a:t>DATA</a:t>
            </a:r>
            <a:r>
              <a:rPr dirty="0" sz="2350" spc="60">
                <a:solidFill>
                  <a:srgbClr val="E17000"/>
                </a:solidFill>
                <a:latin typeface="Arial MT"/>
                <a:cs typeface="Arial MT"/>
              </a:rPr>
              <a:t> </a:t>
            </a:r>
            <a:r>
              <a:rPr dirty="0" sz="2350" spc="-265">
                <a:solidFill>
                  <a:srgbClr val="E17000"/>
                </a:solidFill>
                <a:latin typeface="Arial MT"/>
                <a:cs typeface="Arial MT"/>
              </a:rPr>
              <a:t>LAYER</a:t>
            </a:r>
            <a:endParaRPr sz="2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350">
              <a:latin typeface="Arial MT"/>
              <a:cs typeface="Arial MT"/>
            </a:endParaRPr>
          </a:p>
          <a:p>
            <a:pPr marL="259715">
              <a:lnSpc>
                <a:spcPct val="100000"/>
              </a:lnSpc>
              <a:tabLst>
                <a:tab pos="1174750" algn="l"/>
              </a:tabLst>
            </a:pPr>
            <a:r>
              <a:rPr dirty="0" sz="2750" spc="-25">
                <a:solidFill>
                  <a:srgbClr val="1A1A1A"/>
                </a:solidFill>
                <a:latin typeface="Arial MT"/>
                <a:cs typeface="Arial MT"/>
              </a:rPr>
              <a:t>Pos</a:t>
            </a:r>
            <a:r>
              <a:rPr dirty="0" sz="275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2750" spc="-10">
                <a:solidFill>
                  <a:srgbClr val="1A1A1A"/>
                </a:solidFill>
                <a:latin typeface="Arial MT"/>
                <a:cs typeface="Arial MT"/>
              </a:rPr>
              <a:t>reSQL</a:t>
            </a:r>
            <a:endParaRPr sz="2750">
              <a:latin typeface="Arial MT"/>
              <a:cs typeface="Arial MT"/>
            </a:endParaRPr>
          </a:p>
          <a:p>
            <a:pPr marL="266700">
              <a:lnSpc>
                <a:spcPct val="100000"/>
              </a:lnSpc>
              <a:spcBef>
                <a:spcPts val="420"/>
              </a:spcBef>
            </a:pPr>
            <a:r>
              <a:rPr dirty="0" sz="2000" spc="-40">
                <a:solidFill>
                  <a:srgbClr val="6280B3"/>
                </a:solidFill>
                <a:latin typeface="Arial MT"/>
                <a:cs typeface="Arial MT"/>
              </a:rPr>
              <a:t>Relational</a:t>
            </a:r>
            <a:r>
              <a:rPr dirty="0" sz="2000" spc="40">
                <a:solidFill>
                  <a:srgbClr val="6280B3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627495"/>
                </a:solidFill>
                <a:latin typeface="Arial MT"/>
                <a:cs typeface="Arial MT"/>
              </a:rPr>
              <a:t>database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928551" y="6470813"/>
            <a:ext cx="21145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solidFill>
                  <a:srgbClr val="627495"/>
                </a:solidFill>
                <a:latin typeface="Arial MT"/>
                <a:cs typeface="Arial MT"/>
              </a:rPr>
              <a:t>Type-</a:t>
            </a:r>
            <a:r>
              <a:rPr dirty="0" sz="2000">
                <a:solidFill>
                  <a:srgbClr val="627495"/>
                </a:solidFill>
                <a:latin typeface="Arial MT"/>
                <a:cs typeface="Arial MT"/>
              </a:rPr>
              <a:t>safe</a:t>
            </a:r>
            <a:r>
              <a:rPr dirty="0" sz="2000" spc="325">
                <a:solidFill>
                  <a:srgbClr val="627495"/>
                </a:solidFill>
                <a:latin typeface="Arial MT"/>
                <a:cs typeface="Arial MT"/>
              </a:rPr>
              <a:t> </a:t>
            </a:r>
            <a:r>
              <a:rPr dirty="0" sz="2000" spc="-30">
                <a:solidFill>
                  <a:srgbClr val="627797"/>
                </a:solidFill>
                <a:latin typeface="Arial MT"/>
                <a:cs typeface="Arial MT"/>
              </a:rPr>
              <a:t>schema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3917116" y="7171042"/>
            <a:ext cx="2085975" cy="85788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2700" spc="-25">
                <a:solidFill>
                  <a:srgbClr val="1A1A1A"/>
                </a:solidFill>
                <a:latin typeface="Arial MT"/>
                <a:cs typeface="Arial MT"/>
              </a:rPr>
              <a:t>Zod</a:t>
            </a:r>
            <a:endParaRPr sz="2700">
              <a:latin typeface="Arial MT"/>
              <a:cs typeface="Arial MT"/>
            </a:endParaRPr>
          </a:p>
          <a:p>
            <a:pPr marL="28575">
              <a:lnSpc>
                <a:spcPct val="100000"/>
              </a:lnSpc>
              <a:spcBef>
                <a:spcPts val="380"/>
              </a:spcBef>
            </a:pPr>
            <a:r>
              <a:rPr dirty="0" sz="2050" spc="-65">
                <a:solidFill>
                  <a:srgbClr val="62748E"/>
                </a:solidFill>
                <a:latin typeface="Arial MT"/>
                <a:cs typeface="Arial MT"/>
              </a:rPr>
              <a:t>Schema</a:t>
            </a:r>
            <a:r>
              <a:rPr dirty="0" sz="2050" spc="-35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627490"/>
                </a:solidFill>
                <a:latin typeface="Arial MT"/>
                <a:cs typeface="Arial MT"/>
              </a:rPr>
              <a:t>validation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3921168" y="8365913"/>
            <a:ext cx="2634615" cy="88646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  <a:tabLst>
                <a:tab pos="629920" algn="l"/>
                <a:tab pos="2421890" algn="l"/>
              </a:tabLst>
            </a:pPr>
            <a:r>
              <a:rPr dirty="0" sz="2850" spc="-25">
                <a:solidFill>
                  <a:srgbClr val="1A1A1A"/>
                </a:solidFill>
                <a:latin typeface="Arial MT"/>
                <a:cs typeface="Arial MT"/>
              </a:rPr>
              <a:t>pn</a:t>
            </a:r>
            <a:r>
              <a:rPr dirty="0" sz="2850">
                <a:solidFill>
                  <a:srgbClr val="1A1A1A"/>
                </a:solidFill>
                <a:latin typeface="Arial MT"/>
                <a:cs typeface="Arial MT"/>
              </a:rPr>
              <a:t>	m</a:t>
            </a:r>
            <a:r>
              <a:rPr dirty="0" sz="2850" spc="-409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850" spc="-10">
                <a:solidFill>
                  <a:srgbClr val="1A1A1A"/>
                </a:solidFill>
                <a:latin typeface="Arial MT"/>
                <a:cs typeface="Arial MT"/>
              </a:rPr>
              <a:t>Monore</a:t>
            </a:r>
            <a:r>
              <a:rPr dirty="0" sz="285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dirty="0" sz="2850" spc="-50">
                <a:solidFill>
                  <a:srgbClr val="1A1A1A"/>
                </a:solidFill>
                <a:latin typeface="Arial MT"/>
                <a:cs typeface="Arial MT"/>
              </a:rPr>
              <a:t>o</a:t>
            </a:r>
            <a:endParaRPr sz="2850">
              <a:latin typeface="Arial MT"/>
              <a:cs typeface="Arial MT"/>
            </a:endParaRPr>
          </a:p>
          <a:p>
            <a:pPr marL="24765">
              <a:lnSpc>
                <a:spcPct val="100000"/>
              </a:lnSpc>
              <a:spcBef>
                <a:spcPts val="400"/>
              </a:spcBef>
            </a:pPr>
            <a:r>
              <a:rPr dirty="0" sz="2000" spc="-25">
                <a:solidFill>
                  <a:srgbClr val="62748E"/>
                </a:solidFill>
                <a:latin typeface="Arial MT"/>
                <a:cs typeface="Arial MT"/>
              </a:rPr>
              <a:t>Shared</a:t>
            </a:r>
            <a:r>
              <a:rPr dirty="0" sz="2000" spc="-50">
                <a:solidFill>
                  <a:srgbClr val="62748E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62748E"/>
                </a:solidFill>
                <a:latin typeface="Arial MT"/>
                <a:cs typeface="Arial MT"/>
              </a:rPr>
              <a:t>work</a:t>
            </a:r>
            <a:r>
              <a:rPr dirty="0" sz="2000" spc="-10">
                <a:solidFill>
                  <a:srgbClr val="627495"/>
                </a:solidFill>
                <a:latin typeface="Arial MT"/>
                <a:cs typeface="Arial MT"/>
              </a:rPr>
              <a:t>spaces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873497" y="6804137"/>
            <a:ext cx="10336530" cy="4775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76220" algn="l"/>
              </a:tabLst>
            </a:pPr>
            <a:r>
              <a:rPr dirty="0" sz="2950">
                <a:solidFill>
                  <a:srgbClr val="D4D4D4"/>
                </a:solidFill>
                <a:latin typeface="Arial MT"/>
                <a:cs typeface="Arial MT"/>
              </a:rPr>
              <a:t>built</a:t>
            </a:r>
            <a:r>
              <a:rPr dirty="0" sz="2950" spc="38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D4D4D4"/>
                </a:solidFill>
                <a:latin typeface="Arial MT"/>
                <a:cs typeface="Arial MT"/>
              </a:rPr>
              <a:t>with</a:t>
            </a:r>
            <a:r>
              <a:rPr dirty="0" sz="2950" spc="26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D4D4D4"/>
                </a:solidFill>
                <a:latin typeface="Arial MT"/>
                <a:cs typeface="Arial MT"/>
              </a:rPr>
              <a:t>mode</a:t>
            </a:r>
            <a:r>
              <a:rPr dirty="0" sz="2950">
                <a:solidFill>
                  <a:srgbClr val="D4D4D4"/>
                </a:solidFill>
                <a:latin typeface="Arial MT"/>
                <a:cs typeface="Arial MT"/>
              </a:rPr>
              <a:t>	n</a:t>
            </a:r>
            <a:r>
              <a:rPr dirty="0" sz="2950" spc="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D4D4D4"/>
                </a:solidFill>
                <a:latin typeface="Arial MT"/>
                <a:cs typeface="Arial MT"/>
              </a:rPr>
              <a:t>technology</a:t>
            </a:r>
            <a:r>
              <a:rPr dirty="0" sz="2950" spc="29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950" spc="55">
                <a:solidFill>
                  <a:srgbClr val="D4D4D4"/>
                </a:solidFill>
                <a:latin typeface="Arial MT"/>
                <a:cs typeface="Arial MT"/>
              </a:rPr>
              <a:t>for</a:t>
            </a:r>
            <a:r>
              <a:rPr dirty="0" sz="2950" spc="6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D4D4D4"/>
                </a:solidFill>
                <a:latin typeface="Arial MT"/>
                <a:cs typeface="Arial MT"/>
              </a:rPr>
              <a:t>India</a:t>
            </a:r>
            <a:r>
              <a:rPr dirty="0" sz="2950" spc="29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D4D4D4"/>
                </a:solidFill>
                <a:latin typeface="Arial MT"/>
                <a:cs typeface="Arial MT"/>
              </a:rPr>
              <a:t>s</a:t>
            </a:r>
            <a:r>
              <a:rPr dirty="0" sz="2950" spc="4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D4D4D4"/>
                </a:solidFill>
                <a:latin typeface="Arial MT"/>
                <a:cs typeface="Arial MT"/>
              </a:rPr>
              <a:t>evolving</a:t>
            </a:r>
            <a:r>
              <a:rPr dirty="0" sz="2950" spc="13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D4D4D4"/>
                </a:solidFill>
                <a:latin typeface="Arial MT"/>
                <a:cs typeface="Arial MT"/>
              </a:rPr>
              <a:t>•ob</a:t>
            </a:r>
            <a:r>
              <a:rPr dirty="0" sz="2950" spc="204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D4D4D4"/>
                </a:solidFill>
                <a:latin typeface="Arial MT"/>
                <a:cs typeface="Arial MT"/>
              </a:rPr>
              <a:t>market.</a:t>
            </a:r>
            <a:endParaRPr sz="29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0470" y="10544181"/>
            <a:ext cx="20093940" cy="188595"/>
            <a:chOff x="10470" y="10544181"/>
            <a:chExt cx="20093940" cy="18859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04160" y="10554652"/>
              <a:ext cx="1329802" cy="16753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70" y="10544181"/>
              <a:ext cx="20093629" cy="1884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2026-03-28T02:57:01Z</dcterms:created>
  <dcterms:modified xsi:type="dcterms:W3CDTF">2026-03-28T02:57:01Z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2026-03-28T00:00:00Z</vt:filetime>
  </property>
  <property fmtid="{D5CDD505-2E9C-101B-9397-08002B2CF9AE}" pid="3" name="Creator">
    <vt:lpwstr>Replit</vt:lpwstr>
  </property>
  <property fmtid="{D5CDD505-2E9C-101B-9397-08002B2CF9AE}" pid="4" name="LastSaved">
    <vt:filetime>2026-03-28T00:00:00Z</vt:filetime>
  </property>
  <property fmtid="{D5CDD505-2E9C-101B-9397-08002B2CF9AE}" pid="5" name="Producer">
    <vt:lpwstr>Replit</vt:lpwstr>
  </property>
</Properties>
</file>